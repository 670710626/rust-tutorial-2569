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alibri (MS) Bold" charset="1" panose="020F0702030404030204"/>
      <p:regular r:id="rId31"/>
    </p:embeddedFont>
    <p:embeddedFont>
      <p:font typeface="Calibri (MS)" charset="1" panose="020F0502020204030204"/>
      <p:regular r:id="rId32"/>
    </p:embeddedFont>
    <p:embeddedFont>
      <p:font typeface="Calibri (MS) Italics" charset="1" panose="020F05020202040A0204"/>
      <p:regular r:id="rId34"/>
    </p:embeddedFont>
    <p:embeddedFont>
      <p:font typeface="Courier New" charset="1" panose="02070309020205020404"/>
      <p:regular r:id="rId36"/>
    </p:embeddedFont>
    <p:embeddedFont>
      <p:font typeface="เอฟซี ไอคอนิก Bold Italics" charset="1" panose="020B0500040200020003"/>
      <p:regular r:id="rId37"/>
    </p:embeddedFont>
    <p:embeddedFont>
      <p:font typeface="Courier New Bold" charset="1" panose="02070609020205020404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3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6.xml" Type="http://schemas.openxmlformats.org/officeDocument/2006/relationships/notesSlide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fonts/font44.fntdata" Type="http://schemas.openxmlformats.org/officeDocument/2006/relationships/font"/><Relationship Id="rId45" Target="notesSlides/notesSlide10.xml" Type="http://schemas.openxmlformats.org/officeDocument/2006/relationships/notesSlide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54" Target="notesSlides/notesSlide19.xml" Type="http://schemas.openxmlformats.org/officeDocument/2006/relationships/notesSlide"/><Relationship Id="rId55" Target="notesSlides/notesSlide20.xml" Type="http://schemas.openxmlformats.org/officeDocument/2006/relationships/notesSlide"/><Relationship Id="rId56" Target="notesSlides/notesSlide21.xml" Type="http://schemas.openxmlformats.org/officeDocument/2006/relationships/notesSlide"/><Relationship Id="rId57" Target="notesSlides/notesSlide22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Template นี้จัดทำเพื่อใช้เป็นโครงร่างการนำเสนอ กลุ่มสามารถปรับสี/รูปแบบเพิ่มเติมได้ แต่ควรคงโครงสร้าง 4 ส่วนตามสมาชิกไว้ และให้ทุกคนเตรียมพร้อมตอบคำถามในส่วนของเพื่อนร่วมกลุ่มได้ด้วย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Relationship Id="rId4" Target="https://github.com/670710626/rust-tutorial-2569" TargetMode="External" Type="http://schemas.openxmlformats.org/officeDocument/2006/relationships/hyperlink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A141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22708" y="-2743200"/>
            <a:ext cx="8915400" cy="8915400"/>
            <a:chOff x="0" y="0"/>
            <a:chExt cx="11887200" cy="1188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8B2E2E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29000" y="6446520"/>
            <a:ext cx="6858000" cy="6858000"/>
            <a:chOff x="0" y="0"/>
            <a:chExt cx="9144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C9A227">
                <a:alpha val="588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960120"/>
            <a:ext cx="16088868" cy="548640"/>
            <a:chOff x="0" y="0"/>
            <a:chExt cx="21451824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45182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517321 PRINCIPLES OF PROGRAMMING LANGUAGES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1577340"/>
            <a:ext cx="16088868" cy="480060"/>
            <a:chOff x="0" y="0"/>
            <a:chExt cx="21451824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45182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149">
                  <a:solidFill>
                    <a:srgbClr val="E8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TUTORIAL PRESENTATION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3703320"/>
            <a:ext cx="16088868" cy="1508760"/>
            <a:chOff x="0" y="0"/>
            <a:chExt cx="21451824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1824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81" r="0" b="-15778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21451824" cy="2135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กลุ่ม 15  —  Generics Type System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7755" y="6231255"/>
            <a:ext cx="16107918" cy="2967990"/>
            <a:chOff x="0" y="0"/>
            <a:chExt cx="21477224" cy="3957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77224" cy="3957320"/>
            </a:xfrm>
            <a:custGeom>
              <a:avLst/>
              <a:gdLst/>
              <a:ahLst/>
              <a:cxnLst/>
              <a:rect r="r" b="b" t="t" l="l"/>
              <a:pathLst>
                <a:path h="3957320" w="21477224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30031" y="0"/>
                  </a:lnTo>
                  <a:cubicBezTo>
                    <a:pt x="21411312" y="0"/>
                    <a:pt x="21477224" y="65913"/>
                    <a:pt x="21477224" y="147193"/>
                  </a:cubicBezTo>
                  <a:lnTo>
                    <a:pt x="21477224" y="3810127"/>
                  </a:lnTo>
                  <a:cubicBezTo>
                    <a:pt x="21477224" y="3891407"/>
                    <a:pt x="21411312" y="3957320"/>
                    <a:pt x="21330031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50" cap="sq">
              <a:solidFill>
                <a:srgbClr val="B87A7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08760" y="6473952"/>
            <a:ext cx="15265908" cy="576072"/>
            <a:chOff x="0" y="0"/>
            <a:chExt cx="20354544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นายณัฐวุฒิ โตเมือง (670710623)  — Concept + Short Code Illustration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08760" y="7118604"/>
            <a:ext cx="15265908" cy="576072"/>
            <a:chOff x="0" y="0"/>
            <a:chExt cx="20354544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นางสาวณัฐสุดา ลานตวน (670710624) — Detailed Code + Live Demo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8760" y="7763256"/>
            <a:ext cx="15265908" cy="576072"/>
            <a:chOff x="0" y="0"/>
            <a:chExt cx="20354544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นางสาวณัฐสุรางค์ ชาติทองคำ (670710625) — Rust vs Other Language + PPL Analysis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8760" y="8407908"/>
            <a:ext cx="15265908" cy="576072"/>
            <a:chOff x="0" y="0"/>
            <a:chExt cx="20354544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นายธนเทพ นาสวน (670710626) — Exercises + Common Mistakes + Challenge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9532620"/>
            <a:ext cx="16088868" cy="480060"/>
            <a:chOff x="0" y="0"/>
            <a:chExt cx="21451824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451824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B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คณะวิทยาศาสตร์ มหาวิทยาลัยศิลปากร  |  ภาคการศึกษาที่ 1/2569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2549104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 — โครงสร้างการนำเสนอ (รวม ~20 นาที)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331720"/>
            <a:ext cx="16911828" cy="548640"/>
            <a:chOff x="0" y="0"/>
            <a:chExt cx="22549104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9104" cy="731520"/>
            </a:xfrm>
            <a:custGeom>
              <a:avLst/>
              <a:gdLst/>
              <a:ahLst/>
              <a:cxnLst/>
              <a:rect r="r" b="b" t="t" l="l"/>
              <a:pathLst>
                <a:path h="73152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626" r="0" b="-5506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5491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แต่ละคนนำเสนอประมาณ 5 นาที ต่อเนื่องกันตามลำดับ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3223260"/>
            <a:ext cx="4022217" cy="5349240"/>
            <a:chOff x="0" y="0"/>
            <a:chExt cx="5362956" cy="7132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16848" y="3634740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16848" y="3634740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1540" y="4800600"/>
            <a:ext cx="3610737" cy="411480"/>
            <a:chOff x="0" y="0"/>
            <a:chExt cx="4814316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1 :  นายณัฐวุฒิ โตเมือง 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91540" y="5191887"/>
            <a:ext cx="361073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Concept + Short Code Illustration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1540" y="6623685"/>
            <a:ext cx="340499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แนวคิดหลักของหัวข้อ พร้อมโค้ดตัวอย่างสั้น ๆ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1540" y="8092440"/>
            <a:ext cx="3610737" cy="411480"/>
            <a:chOff x="0" y="0"/>
            <a:chExt cx="4814316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82337" y="3223260"/>
            <a:ext cx="4022217" cy="5349240"/>
            <a:chOff x="0" y="0"/>
            <a:chExt cx="5362956" cy="7132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13386" y="3634740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13386" y="3634740"/>
            <a:ext cx="960120" cy="960120"/>
            <a:chOff x="0" y="0"/>
            <a:chExt cx="128016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88077" y="4800600"/>
            <a:ext cx="3610737" cy="411480"/>
            <a:chOff x="0" y="0"/>
            <a:chExt cx="4814316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2 : นางสาวณัฐสุดา ลานตวน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188077" y="5191887"/>
            <a:ext cx="361073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Detailed Code + Live Demo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88077" y="6623685"/>
            <a:ext cx="361073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อธิบายโค้ดเชิงลึกและสาธิตการทำงานจริง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188077" y="8092440"/>
            <a:ext cx="3610737" cy="411480"/>
            <a:chOff x="0" y="0"/>
            <a:chExt cx="4814316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78874" y="3223260"/>
            <a:ext cx="4022217" cy="5349240"/>
            <a:chOff x="0" y="0"/>
            <a:chExt cx="5362956" cy="7132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809922" y="3634740"/>
            <a:ext cx="960120" cy="960120"/>
            <a:chOff x="0" y="0"/>
            <a:chExt cx="128016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809922" y="3634740"/>
            <a:ext cx="960120" cy="960120"/>
            <a:chOff x="0" y="0"/>
            <a:chExt cx="128016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82696" y="4800600"/>
            <a:ext cx="3814572" cy="411480"/>
            <a:chOff x="0" y="0"/>
            <a:chExt cx="5086096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086096" cy="548640"/>
            </a:xfrm>
            <a:custGeom>
              <a:avLst/>
              <a:gdLst/>
              <a:ahLst/>
              <a:cxnLst/>
              <a:rect r="r" b="b" t="t" l="l"/>
              <a:pathLst>
                <a:path h="548640" w="5086096">
                  <a:moveTo>
                    <a:pt x="0" y="0"/>
                  </a:moveTo>
                  <a:lnTo>
                    <a:pt x="5086096" y="0"/>
                  </a:lnTo>
                  <a:lnTo>
                    <a:pt x="50860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5343" b="-12098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508609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3 : นางสาวณัฐสุรางค์ ชาติทองคำ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484614" y="5191887"/>
            <a:ext cx="361073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Rust vs Other Language + PPL Analysis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4614" y="6623685"/>
            <a:ext cx="361073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เปรียบเทียบภาษา และวิเคราะห์เชิง Programming Language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484614" y="8092440"/>
            <a:ext cx="3610737" cy="411480"/>
            <a:chOff x="0" y="0"/>
            <a:chExt cx="4814316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575411" y="3223260"/>
            <a:ext cx="4022217" cy="5349240"/>
            <a:chOff x="0" y="0"/>
            <a:chExt cx="5362956" cy="7132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106460" y="3634740"/>
            <a:ext cx="960120" cy="960120"/>
            <a:chOff x="0" y="0"/>
            <a:chExt cx="128016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106460" y="3634740"/>
            <a:ext cx="960120" cy="960120"/>
            <a:chOff x="0" y="0"/>
            <a:chExt cx="1280160" cy="12801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1280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781151" y="4800600"/>
            <a:ext cx="3610737" cy="411480"/>
            <a:chOff x="0" y="0"/>
            <a:chExt cx="4814316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4: นายธนเทพ นาสวน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3781151" y="5191887"/>
            <a:ext cx="361073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Exercises + Common Mistakes + Challenge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781151" y="6614160"/>
            <a:ext cx="3610737" cy="799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62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Mistakes 1 &amp; 2 (Nominal Contracts &amp; Vtable) + Exercises 1 &amp; 2 (Cache &amp; Notifier) + Challenge Trade-offs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3781151" y="8092440"/>
            <a:ext cx="3610737" cy="411480"/>
            <a:chOff x="0" y="0"/>
            <a:chExt cx="4814316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2089785"/>
            <a:chOff x="0" y="0"/>
            <a:chExt cx="22549104" cy="278638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549104" cy="1280160"/>
              <a:chOff x="0" y="0"/>
              <a:chExt cx="22549104" cy="128016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2549104" cy="1280160"/>
              </a:xfrm>
              <a:custGeom>
                <a:avLst/>
                <a:gdLst/>
                <a:ahLst/>
                <a:cxnLst/>
                <a:rect r="r" b="b" t="t" l="l"/>
                <a:pathLst>
                  <a:path h="1280160" w="22549104">
                    <a:moveTo>
                      <a:pt x="0" y="0"/>
                    </a:moveTo>
                    <a:lnTo>
                      <a:pt x="22549104" y="0"/>
                    </a:lnTo>
                    <a:lnTo>
                      <a:pt x="22549104" y="1280160"/>
                    </a:lnTo>
                    <a:lnTo>
                      <a:pt x="0" y="12801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3215" r="0" b="-293215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0"/>
                <a:ext cx="22549104" cy="13754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400"/>
                  </a:lnSpc>
                </a:pPr>
                <a:r>
                  <a:rPr lang="en-US" sz="4500" b="true">
                    <a:solidFill>
                      <a:srgbClr val="222222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Generics &amp; Type System</a:t>
                </a:r>
                <a:r>
                  <a:rPr lang="en-US" sz="4500" b="true">
                    <a:solidFill>
                      <a:srgbClr val="222222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 คืออะไร?</a:t>
                </a: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1071880"/>
              <a:ext cx="10241280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75"/>
                </a:lnSpc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Generics คือการใช้ Type Parameter เช่น T</a:t>
              </a:r>
            </a:p>
            <a:p>
              <a:pPr algn="just">
                <a:lnSpc>
                  <a:spcPts val="3375"/>
                </a:lnSpc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เพื่อเขียน Function หรือ Struct</a:t>
              </a:r>
            </a:p>
            <a:p>
              <a:pPr algn="just">
                <a:lnSpc>
                  <a:spcPts val="3375"/>
                </a:lnSpc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ให้สามารถใช้กับข้อมูลหลายชนิดได้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78240" y="6309360"/>
            <a:ext cx="8819388" cy="411480"/>
            <a:chOff x="0" y="0"/>
            <a:chExt cx="11759184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78240" y="6789420"/>
            <a:ext cx="8819388" cy="1508760"/>
            <a:chOff x="0" y="0"/>
            <a:chExt cx="11759184" cy="2011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59185" cy="2011680"/>
            </a:xfrm>
            <a:custGeom>
              <a:avLst/>
              <a:gdLst/>
              <a:ahLst/>
              <a:cxnLst/>
              <a:rect r="r" b="b" t="t" l="l"/>
              <a:pathLst>
                <a:path h="2011680" w="11759185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49149"/>
                    <a:pt x="11759185" y="109728"/>
                  </a:cubicBezTo>
                  <a:lnTo>
                    <a:pt x="11759185" y="1901952"/>
                  </a:lnTo>
                  <a:cubicBezTo>
                    <a:pt x="11759185" y="1962531"/>
                    <a:pt x="11710036" y="2011680"/>
                    <a:pt x="11649456" y="2011680"/>
                  </a:cubicBezTo>
                  <a:lnTo>
                    <a:pt x="109728" y="2011680"/>
                  </a:lnTo>
                  <a:cubicBezTo>
                    <a:pt x="49149" y="2011680"/>
                    <a:pt x="0" y="1962531"/>
                    <a:pt x="0" y="1901952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121140" y="7194614"/>
            <a:ext cx="8133588" cy="66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Rust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2537460"/>
            <a:ext cx="8819388" cy="3566160"/>
            <a:chOff x="0" y="0"/>
            <a:chExt cx="11759184" cy="475488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1759184" cy="4754880"/>
              <a:chOff x="0" y="0"/>
              <a:chExt cx="11759184" cy="47548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759185" cy="4754880"/>
              </a:xfrm>
              <a:custGeom>
                <a:avLst/>
                <a:gdLst/>
                <a:ahLst/>
                <a:cxnLst/>
                <a:rect r="r" b="b" t="t" l="l"/>
                <a:pathLst>
                  <a:path h="4754880" w="11759185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11649456" y="0"/>
                    </a:lnTo>
                    <a:cubicBezTo>
                      <a:pt x="11710036" y="0"/>
                      <a:pt x="11759185" y="49149"/>
                      <a:pt x="11759185" y="109728"/>
                    </a:cubicBezTo>
                    <a:lnTo>
                      <a:pt x="11759185" y="4645152"/>
                    </a:lnTo>
                    <a:cubicBezTo>
                      <a:pt x="11759185" y="4705731"/>
                      <a:pt x="11710036" y="4754880"/>
                      <a:pt x="11649456" y="4754880"/>
                    </a:cubicBezTo>
                    <a:lnTo>
                      <a:pt x="109728" y="4754880"/>
                    </a:lnTo>
                    <a:cubicBezTo>
                      <a:pt x="49149" y="4754880"/>
                      <a:pt x="0" y="4705731"/>
                      <a:pt x="0" y="4645152"/>
                    </a:cubicBezTo>
                    <a:close/>
                  </a:path>
                </a:pathLst>
              </a:custGeom>
              <a:solidFill>
                <a:srgbClr val="212121"/>
              </a:solidFill>
            </p:spPr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457200" y="96027"/>
              <a:ext cx="7635128" cy="4562825"/>
            </a:xfrm>
            <a:custGeom>
              <a:avLst/>
              <a:gdLst/>
              <a:ahLst/>
              <a:cxnLst/>
              <a:rect r="r" b="b" t="t" l="l"/>
              <a:pathLst>
                <a:path h="4562825" w="7635128">
                  <a:moveTo>
                    <a:pt x="0" y="0"/>
                  </a:moveTo>
                  <a:lnTo>
                    <a:pt x="7635128" y="0"/>
                  </a:lnTo>
                  <a:lnTo>
                    <a:pt x="7635128" y="4562826"/>
                  </a:lnTo>
                  <a:lnTo>
                    <a:pt x="0" y="4562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5800" y="3829050"/>
            <a:ext cx="7680960" cy="1691640"/>
            <a:chOff x="0" y="0"/>
            <a:chExt cx="10241280" cy="225552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123825"/>
              <a:ext cx="10241280" cy="629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24"/>
                </a:lnSpc>
              </a:pPr>
              <a:r>
                <a:rPr lang="en-US" b="true" sz="2549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ทำไม Rust จึงใช้ Generics?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541020"/>
              <a:ext cx="10241280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5775" indent="-242888" lvl="1">
                <a:lnSpc>
                  <a:spcPts val="3375"/>
                </a:lnSpc>
                <a:buFont typeface="Arial"/>
                <a:buChar char="•"/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ลดการเขียนโค้ดซ้ำ (Code Reuse)</a:t>
              </a:r>
            </a:p>
            <a:p>
              <a:pPr algn="l" marL="485775" indent="-242888" lvl="1">
                <a:lnSpc>
                  <a:spcPts val="3375"/>
                </a:lnSpc>
                <a:buFont typeface="Arial"/>
                <a:buChar char="•"/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ใช้ Abstraction เดียวกับหลาย Concrete Types</a:t>
              </a:r>
            </a:p>
            <a:p>
              <a:pPr algn="l" marL="485775" indent="-242888" lvl="1">
                <a:lnSpc>
                  <a:spcPts val="3375"/>
                </a:lnSpc>
                <a:buFont typeface="Arial"/>
                <a:buChar char="•"/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ยังคงให้ Compiler ตรวจสอบชนิดข้อมูลตั้งแต่ Compile Time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85800" y="5995472"/>
            <a:ext cx="7680960" cy="2703140"/>
            <a:chOff x="0" y="0"/>
            <a:chExt cx="10241280" cy="3604186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123825"/>
              <a:ext cx="10241280" cy="629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24"/>
                </a:lnSpc>
              </a:pPr>
              <a:r>
                <a:rPr lang="en-US" b="true" sz="2549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แนวคิดสำคัญ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518213"/>
              <a:ext cx="10241280" cy="1049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5"/>
                </a:lnSpc>
              </a:pPr>
              <a:r>
                <a:rPr lang="en-US" b="true" sz="2150" i="true">
                  <a:solidFill>
                    <a:srgbClr val="8B2E2E"/>
                  </a:solidFill>
                  <a:latin typeface="เอฟซี ไอคอนิก Bold Italics"/>
                  <a:ea typeface="เอฟซี ไอคอนิก Bold Italics"/>
                  <a:cs typeface="เอฟซี ไอคอนิก Bold Italics"/>
                  <a:sym typeface="เอฟซี ไอคอนิก Bold Italics"/>
                </a:rPr>
                <a:t>“ เขียน Logic ครั้งเดียว และนำไปใช้กับหลาย Type </a:t>
              </a:r>
            </a:p>
            <a:p>
              <a:pPr algn="ctr">
                <a:lnSpc>
                  <a:spcPts val="3225"/>
                </a:lnSpc>
              </a:pPr>
              <a:r>
                <a:rPr lang="en-US" b="true" sz="2150" i="true">
                  <a:solidFill>
                    <a:srgbClr val="8B2E2E"/>
                  </a:solidFill>
                  <a:latin typeface="เอฟซี ไอคอนิก Bold Italics"/>
                  <a:ea typeface="เอฟซี ไอคอนิก Bold Italics"/>
                  <a:cs typeface="เอฟซี ไอคอนิก Bold Italics"/>
                  <a:sym typeface="เอฟซี ไอคอนิก Bold Italics"/>
                </a:rPr>
                <a:t>โดยยังคง Type Safety ”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889686"/>
              <a:ext cx="10241280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5775" indent="-242888" lvl="1">
                <a:lnSpc>
                  <a:spcPts val="3375"/>
                </a:lnSpc>
                <a:buFont typeface="Arial"/>
                <a:buChar char="•"/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Parametric Polymorphism</a:t>
              </a:r>
            </a:p>
            <a:p>
              <a:pPr algn="l">
                <a:lnSpc>
                  <a:spcPts val="3375"/>
                </a:lnSpc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Generics ทำให้เราสามารถเขียน Logic ที่ไม่ได้ผูกกับชนิดข้อมูลใดชนิดหนึ่งตั้งแต่ต้น แต่ระบุ Type จริงเมื่อมีการนำไปใช้งาน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78240" y="2203006"/>
            <a:ext cx="8819388" cy="6095174"/>
            <a:chOff x="0" y="0"/>
            <a:chExt cx="11759184" cy="812689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5865267"/>
              <a:ext cx="11759184" cy="548640"/>
              <a:chOff x="0" y="0"/>
              <a:chExt cx="11759184" cy="54864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759184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11759184">
                    <a:moveTo>
                      <a:pt x="0" y="0"/>
                    </a:moveTo>
                    <a:lnTo>
                      <a:pt x="11759184" y="0"/>
                    </a:lnTo>
                    <a:lnTo>
                      <a:pt x="11759184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67629" r="0" b="-367629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1759184" cy="5867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6B6B6B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6627829"/>
              <a:ext cx="11759184" cy="1499069"/>
              <a:chOff x="0" y="0"/>
              <a:chExt cx="11759184" cy="149906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759185" cy="1499069"/>
              </a:xfrm>
              <a:custGeom>
                <a:avLst/>
                <a:gdLst/>
                <a:ahLst/>
                <a:cxnLst/>
                <a:rect r="r" b="b" t="t" l="l"/>
                <a:pathLst>
                  <a:path h="1499069" w="11759185">
                    <a:moveTo>
                      <a:pt x="0" y="81767"/>
                    </a:moveTo>
                    <a:cubicBezTo>
                      <a:pt x="0" y="36625"/>
                      <a:pt x="49149" y="0"/>
                      <a:pt x="109728" y="0"/>
                    </a:cubicBezTo>
                    <a:lnTo>
                      <a:pt x="11649456" y="0"/>
                    </a:lnTo>
                    <a:cubicBezTo>
                      <a:pt x="11710036" y="0"/>
                      <a:pt x="11759185" y="36625"/>
                      <a:pt x="11759185" y="81767"/>
                    </a:cubicBezTo>
                    <a:lnTo>
                      <a:pt x="11759185" y="1417302"/>
                    </a:lnTo>
                    <a:cubicBezTo>
                      <a:pt x="11759185" y="1462444"/>
                      <a:pt x="11710036" y="1499069"/>
                      <a:pt x="11649456" y="1499069"/>
                    </a:cubicBezTo>
                    <a:lnTo>
                      <a:pt x="109728" y="1499069"/>
                    </a:lnTo>
                    <a:cubicBezTo>
                      <a:pt x="49149" y="1499069"/>
                      <a:pt x="0" y="1462444"/>
                      <a:pt x="0" y="1417302"/>
                    </a:cubicBez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380597" y="6854837"/>
              <a:ext cx="10844784" cy="867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numb</a:t>
              </a:r>
              <a:r>
                <a:rPr lang="en-US" sz="19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er = 42</a:t>
              </a:r>
            </a:p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text = Rust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0" y="0"/>
              <a:ext cx="11759184" cy="5517946"/>
              <a:chOff x="0" y="0"/>
              <a:chExt cx="11759184" cy="551794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759185" cy="5517946"/>
              </a:xfrm>
              <a:custGeom>
                <a:avLst/>
                <a:gdLst/>
                <a:ahLst/>
                <a:cxnLst/>
                <a:rect r="r" b="b" t="t" l="l"/>
                <a:pathLst>
                  <a:path h="5517946" w="11759185">
                    <a:moveTo>
                      <a:pt x="0" y="127337"/>
                    </a:moveTo>
                    <a:cubicBezTo>
                      <a:pt x="0" y="57036"/>
                      <a:pt x="49149" y="0"/>
                      <a:pt x="109728" y="0"/>
                    </a:cubicBezTo>
                    <a:lnTo>
                      <a:pt x="11649456" y="0"/>
                    </a:lnTo>
                    <a:cubicBezTo>
                      <a:pt x="11710036" y="0"/>
                      <a:pt x="11759185" y="57036"/>
                      <a:pt x="11759185" y="127337"/>
                    </a:cubicBezTo>
                    <a:lnTo>
                      <a:pt x="11759185" y="5390609"/>
                    </a:lnTo>
                    <a:cubicBezTo>
                      <a:pt x="11759185" y="5460909"/>
                      <a:pt x="11710036" y="5517946"/>
                      <a:pt x="11649456" y="5517946"/>
                    </a:cubicBezTo>
                    <a:lnTo>
                      <a:pt x="109728" y="5517946"/>
                    </a:lnTo>
                    <a:cubicBezTo>
                      <a:pt x="49149" y="5517946"/>
                      <a:pt x="0" y="5460909"/>
                      <a:pt x="0" y="5390609"/>
                    </a:cubicBezTo>
                    <a:close/>
                  </a:path>
                </a:pathLst>
              </a:custGeom>
              <a:solidFill>
                <a:srgbClr val="212121"/>
              </a:solidFill>
            </p:spPr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380597" y="9058"/>
              <a:ext cx="6604561" cy="5483487"/>
            </a:xfrm>
            <a:custGeom>
              <a:avLst/>
              <a:gdLst/>
              <a:ahLst/>
              <a:cxnLst/>
              <a:rect r="r" b="b" t="t" l="l"/>
              <a:pathLst>
                <a:path h="5483487" w="6604561">
                  <a:moveTo>
                    <a:pt x="0" y="0"/>
                  </a:moveTo>
                  <a:lnTo>
                    <a:pt x="6604562" y="0"/>
                  </a:lnTo>
                  <a:lnTo>
                    <a:pt x="6604562" y="5483488"/>
                  </a:lnTo>
                  <a:lnTo>
                    <a:pt x="0" y="5483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02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" y="1438275"/>
            <a:ext cx="8703157" cy="1581150"/>
            <a:chOff x="0" y="0"/>
            <a:chExt cx="11604209" cy="21082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1604209" cy="1268347"/>
              <a:chOff x="0" y="0"/>
              <a:chExt cx="11712283" cy="12801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712284" cy="1280160"/>
              </a:xfrm>
              <a:custGeom>
                <a:avLst/>
                <a:gdLst/>
                <a:ahLst/>
                <a:cxnLst/>
                <a:rect r="r" b="b" t="t" l="l"/>
                <a:pathLst>
                  <a:path h="1280160" w="11712284">
                    <a:moveTo>
                      <a:pt x="0" y="0"/>
                    </a:moveTo>
                    <a:lnTo>
                      <a:pt x="11712284" y="0"/>
                    </a:lnTo>
                    <a:lnTo>
                      <a:pt x="11712284" y="1280160"/>
                    </a:lnTo>
                    <a:lnTo>
                      <a:pt x="0" y="12801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3215" r="-92525" b="-293215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0"/>
                <a:ext cx="11712283" cy="13754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400"/>
                  </a:lnSpc>
                </a:pPr>
                <a:r>
                  <a:rPr lang="en-US" sz="4500" b="true">
                    <a:solidFill>
                      <a:srgbClr val="222222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Generic Function &amp; Type Parameter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965200"/>
              <a:ext cx="10241280" cy="114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5775" indent="-242888" lvl="1">
                <a:lnSpc>
                  <a:spcPts val="3375"/>
                </a:lnSpc>
                <a:buFont typeface="Arial"/>
                <a:buChar char="•"/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Generic Function คือ Function ที่ใช้ Type Parameter </a:t>
              </a:r>
            </a:p>
            <a:p>
              <a:pPr algn="l">
                <a:lnSpc>
                  <a:spcPts val="3375"/>
                </a:lnSpc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แทน Concrete Type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5800" y="3409950"/>
            <a:ext cx="7680960" cy="1657350"/>
            <a:chOff x="0" y="0"/>
            <a:chExt cx="10241280" cy="220980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123825"/>
              <a:ext cx="10241280" cy="629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24"/>
                </a:lnSpc>
              </a:pPr>
              <a:r>
                <a:rPr lang="en-US" b="true" sz="2549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Syntax ที่ควรรู้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495300"/>
              <a:ext cx="10241280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5775" indent="-242888" lvl="1">
                <a:lnSpc>
                  <a:spcPts val="3375"/>
                </a:lnSpc>
                <a:buFont typeface="Arial"/>
                <a:buChar char="•"/>
              </a:pPr>
              <a:r>
                <a:rPr lang="en-US" b="true" sz="2250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&lt;T&gt;</a:t>
              </a:r>
              <a:r>
                <a:rPr lang="en-US" sz="2250">
                  <a:solidFill>
                    <a:srgbClr val="B23B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ประกาศ Type Parameter</a:t>
              </a:r>
            </a:p>
            <a:p>
              <a:pPr algn="l" marL="485775" indent="-242888" lvl="1">
                <a:lnSpc>
                  <a:spcPts val="3375"/>
                </a:lnSpc>
                <a:buFont typeface="Arial"/>
                <a:buChar char="•"/>
              </a:pPr>
              <a:r>
                <a:rPr lang="en-US" b="true" sz="2250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value: T </a:t>
              </a: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Parameter มี Type เป็น </a:t>
              </a:r>
              <a:r>
                <a:rPr lang="en-US" b="true" sz="2250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</a:p>
            <a:p>
              <a:pPr algn="l" marL="485775" indent="-242888" lvl="1">
                <a:lnSpc>
                  <a:spcPts val="3375"/>
                </a:lnSpc>
                <a:buFont typeface="Arial"/>
                <a:buChar char="•"/>
              </a:pPr>
              <a:r>
                <a:rPr lang="en-US" b="true" sz="2250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-&gt; T</a:t>
              </a: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→ Return Type เป็น </a:t>
              </a:r>
              <a:r>
                <a:rPr lang="en-US" b="true" sz="2250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85800" y="5457825"/>
            <a:ext cx="7680960" cy="800100"/>
            <a:chOff x="0" y="0"/>
            <a:chExt cx="10241280" cy="1066800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123825"/>
              <a:ext cx="10241280" cy="629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24"/>
                </a:lnSpc>
              </a:pPr>
              <a:r>
                <a:rPr lang="en-US" b="true" sz="2549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หลักการทำงาน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495300"/>
              <a:ext cx="10241280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เมื่อเรียกใช้ Function → Type T จะสอดคล้องกับ Type ของค่าที่ใช้งาน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85800" y="6391275"/>
            <a:ext cx="768096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ตัวอย่าง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identity(42)         →    T = i32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identity("Rust")  →    T = &amp;str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5800" y="7827645"/>
            <a:ext cx="7680960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</a:pPr>
            <a:r>
              <a:rPr lang="en-US" b="true" sz="2649" i="true">
                <a:solidFill>
                  <a:srgbClr val="8B2E2E"/>
                </a:solidFill>
                <a:latin typeface="เอฟซี ไอคอนิก Bold Italics"/>
                <a:ea typeface="เอฟซี ไอคอนิก Bold Italics"/>
                <a:cs typeface="เอฟซี ไอคอนิก Bold Italics"/>
                <a:sym typeface="เอฟซี ไอคอนิก Bold Italics"/>
              </a:rPr>
              <a:t>Functi</a:t>
            </a:r>
            <a:r>
              <a:rPr lang="en-US" b="true" sz="2649" i="true">
                <a:solidFill>
                  <a:srgbClr val="8B2E2E"/>
                </a:solidFill>
                <a:latin typeface="เอฟซี ไอคอนิก Bold Italics"/>
                <a:ea typeface="เอฟซี ไอคอนิก Bold Italics"/>
                <a:cs typeface="เอฟซี ไอคอนิก Bold Italics"/>
                <a:sym typeface="เอฟซี ไอคอนิก Bold Italics"/>
              </a:rPr>
              <a:t>on เดียว → รองรับหลาย Type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2640150"/>
            <a:ext cx="8831422" cy="6161336"/>
            <a:chOff x="0" y="0"/>
            <a:chExt cx="11775229" cy="821511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5953484"/>
              <a:ext cx="11759184" cy="548640"/>
              <a:chOff x="0" y="0"/>
              <a:chExt cx="11759184" cy="54864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759184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11759184">
                    <a:moveTo>
                      <a:pt x="0" y="0"/>
                    </a:moveTo>
                    <a:lnTo>
                      <a:pt x="11759184" y="0"/>
                    </a:lnTo>
                    <a:lnTo>
                      <a:pt x="11759184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67629" r="0" b="-367629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1759184" cy="5867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6B6B6B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6716045"/>
              <a:ext cx="11759184" cy="1499069"/>
              <a:chOff x="0" y="0"/>
              <a:chExt cx="11759184" cy="149906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759185" cy="1499069"/>
              </a:xfrm>
              <a:custGeom>
                <a:avLst/>
                <a:gdLst/>
                <a:ahLst/>
                <a:cxnLst/>
                <a:rect r="r" b="b" t="t" l="l"/>
                <a:pathLst>
                  <a:path h="1499069" w="11759185">
                    <a:moveTo>
                      <a:pt x="0" y="81767"/>
                    </a:moveTo>
                    <a:cubicBezTo>
                      <a:pt x="0" y="36625"/>
                      <a:pt x="49149" y="0"/>
                      <a:pt x="109728" y="0"/>
                    </a:cubicBezTo>
                    <a:lnTo>
                      <a:pt x="11649456" y="0"/>
                    </a:lnTo>
                    <a:cubicBezTo>
                      <a:pt x="11710036" y="0"/>
                      <a:pt x="11759185" y="36625"/>
                      <a:pt x="11759185" y="81767"/>
                    </a:cubicBezTo>
                    <a:lnTo>
                      <a:pt x="11759185" y="1417302"/>
                    </a:lnTo>
                    <a:cubicBezTo>
                      <a:pt x="11759185" y="1462444"/>
                      <a:pt x="11710036" y="1499069"/>
                      <a:pt x="11649456" y="1499069"/>
                    </a:cubicBezTo>
                    <a:lnTo>
                      <a:pt x="109728" y="1499069"/>
                    </a:lnTo>
                    <a:cubicBezTo>
                      <a:pt x="49149" y="1499069"/>
                      <a:pt x="0" y="1462444"/>
                      <a:pt x="0" y="1417302"/>
                    </a:cubicBez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380597" y="6943053"/>
              <a:ext cx="10844784" cy="867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Point { x: 5, y:</a:t>
              </a:r>
              <a:r>
                <a:rPr lang="en-US" sz="19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10 }</a:t>
              </a:r>
            </a:p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Point { x: 1.5, y: 4.0 }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16045" y="0"/>
              <a:ext cx="11759184" cy="5711429"/>
              <a:chOff x="0" y="0"/>
              <a:chExt cx="11759184" cy="571142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759185" cy="5711430"/>
              </a:xfrm>
              <a:custGeom>
                <a:avLst/>
                <a:gdLst/>
                <a:ahLst/>
                <a:cxnLst/>
                <a:rect r="r" b="b" t="t" l="l"/>
                <a:pathLst>
                  <a:path h="5711430" w="11759185">
                    <a:moveTo>
                      <a:pt x="0" y="131802"/>
                    </a:moveTo>
                    <a:cubicBezTo>
                      <a:pt x="0" y="59036"/>
                      <a:pt x="49149" y="0"/>
                      <a:pt x="109728" y="0"/>
                    </a:cubicBezTo>
                    <a:lnTo>
                      <a:pt x="11649456" y="0"/>
                    </a:lnTo>
                    <a:cubicBezTo>
                      <a:pt x="11710036" y="0"/>
                      <a:pt x="11759185" y="59036"/>
                      <a:pt x="11759185" y="131802"/>
                    </a:cubicBezTo>
                    <a:lnTo>
                      <a:pt x="11759185" y="5579627"/>
                    </a:lnTo>
                    <a:cubicBezTo>
                      <a:pt x="11759185" y="5652393"/>
                      <a:pt x="11710036" y="5711430"/>
                      <a:pt x="11649456" y="5711430"/>
                    </a:cubicBezTo>
                    <a:lnTo>
                      <a:pt x="109728" y="5711430"/>
                    </a:lnTo>
                    <a:cubicBezTo>
                      <a:pt x="49149" y="5711430"/>
                      <a:pt x="0" y="5652393"/>
                      <a:pt x="0" y="5579627"/>
                    </a:cubicBezTo>
                    <a:close/>
                  </a:path>
                </a:pathLst>
              </a:custGeom>
              <a:solidFill>
                <a:srgbClr val="212121"/>
              </a:solidFill>
            </p:spPr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201414" y="10400"/>
              <a:ext cx="7207250" cy="5683250"/>
            </a:xfrm>
            <a:custGeom>
              <a:avLst/>
              <a:gdLst/>
              <a:ahLst/>
              <a:cxnLst/>
              <a:rect r="r" b="b" t="t" l="l"/>
              <a:pathLst>
                <a:path h="5683250" w="7207250">
                  <a:moveTo>
                    <a:pt x="0" y="0"/>
                  </a:moveTo>
                  <a:lnTo>
                    <a:pt x="7207250" y="0"/>
                  </a:lnTo>
                  <a:lnTo>
                    <a:pt x="7207250" y="5683250"/>
                  </a:lnTo>
                  <a:lnTo>
                    <a:pt x="0" y="5683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90" b="-49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40734" y="1688890"/>
            <a:ext cx="8807354" cy="951261"/>
            <a:chOff x="0" y="0"/>
            <a:chExt cx="11852506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852507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852507">
                  <a:moveTo>
                    <a:pt x="0" y="0"/>
                  </a:moveTo>
                  <a:lnTo>
                    <a:pt x="11852507" y="0"/>
                  </a:lnTo>
                  <a:lnTo>
                    <a:pt x="11852507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-90247" b="-29321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11852506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Generic Struct &amp; Monomorphization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15550" y="2306891"/>
            <a:ext cx="7680960" cy="926783"/>
            <a:chOff x="0" y="0"/>
            <a:chExt cx="10241280" cy="1235711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142875"/>
              <a:ext cx="10241280" cy="6889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24"/>
                </a:lnSpc>
              </a:pPr>
              <a:r>
                <a:rPr lang="en-US" b="true" sz="2749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Generic Struct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664211"/>
              <a:ext cx="10241280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5775" indent="-242888" lvl="1">
                <a:lnSpc>
                  <a:spcPts val="3375"/>
                </a:lnSpc>
                <a:buFont typeface="Arial"/>
                <a:buChar char="•"/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 ที่ใช้ Type Parameter เพื่อรองรับข้อมูลหลาย Type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115550" y="8063866"/>
            <a:ext cx="768096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b="true" sz="2549" i="true">
                <a:solidFill>
                  <a:srgbClr val="8B2E2E"/>
                </a:solidFill>
                <a:latin typeface="เอฟซี ไอคอนิก Bold Italics"/>
                <a:ea typeface="เอฟซี ไอคอนิก Bold Italics"/>
                <a:cs typeface="เอฟซี ไอคอนิก Bold Italics"/>
                <a:sym typeface="เอฟซี ไอคอนิก Bold Italics"/>
              </a:rPr>
              <a:t>Generic C</a:t>
            </a:r>
            <a:r>
              <a:rPr lang="en-US" b="true" sz="2549" i="true">
                <a:solidFill>
                  <a:srgbClr val="8B2E2E"/>
                </a:solidFill>
                <a:latin typeface="เอฟซี ไอคอนิก Bold Italics"/>
                <a:ea typeface="เอฟซี ไอคอนิก Bold Italics"/>
                <a:cs typeface="เอฟซี ไอคอนิก Bold Italics"/>
                <a:sym typeface="เอฟซี ไอคอนิก Bold Italics"/>
              </a:rPr>
              <a:t>ode เดียว → รองรับหลาย Concrete Types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115550" y="3468140"/>
            <a:ext cx="7680960" cy="1753465"/>
            <a:chOff x="0" y="0"/>
            <a:chExt cx="10241280" cy="2337953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123825"/>
              <a:ext cx="10241280" cy="629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24"/>
                </a:lnSpc>
              </a:pPr>
              <a:r>
                <a:rPr lang="en-US" b="true" sz="2549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หลักการ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519313"/>
              <a:ext cx="10241280" cy="1818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28954" indent="-264477" lvl="1">
                <a:lnSpc>
                  <a:spcPts val="3674"/>
                </a:lnSpc>
                <a:buFont typeface="Arial"/>
                <a:buChar char="•"/>
              </a:pPr>
              <a:r>
                <a:rPr lang="en-US" b="true" sz="2449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Point&lt;T&gt;</a:t>
              </a:r>
              <a:r>
                <a:rPr lang="en-US" sz="244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→ Generic Struct</a:t>
              </a:r>
            </a:p>
            <a:p>
              <a:pPr algn="l" marL="528954" indent="-264477" lvl="1">
                <a:lnSpc>
                  <a:spcPts val="3674"/>
                </a:lnSpc>
                <a:buFont typeface="Arial"/>
                <a:buChar char="•"/>
              </a:pPr>
              <a:r>
                <a:rPr lang="en-US" b="true" sz="2449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Point&lt;i32&gt; </a:t>
              </a:r>
              <a:r>
                <a:rPr lang="en-US" sz="244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ใช้กับจำนวนเต็ม</a:t>
              </a:r>
            </a:p>
            <a:p>
              <a:pPr algn="l" marL="528954" indent="-264477" lvl="1">
                <a:lnSpc>
                  <a:spcPts val="3674"/>
                </a:lnSpc>
                <a:buFont typeface="Arial"/>
                <a:buChar char="•"/>
              </a:pPr>
              <a:r>
                <a:rPr lang="en-US" b="true" sz="2449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Point&lt;f64&gt;</a:t>
              </a:r>
              <a:r>
                <a:rPr lang="en-US" sz="244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→ ใช้กับเลขทศนิยม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115550" y="5381625"/>
            <a:ext cx="7680960" cy="926783"/>
            <a:chOff x="0" y="0"/>
            <a:chExt cx="10241280" cy="1235711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142875"/>
              <a:ext cx="10241280" cy="6889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24"/>
                </a:lnSpc>
              </a:pPr>
              <a:r>
                <a:rPr lang="en-US" b="true" sz="2749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 Inference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664211"/>
              <a:ext cx="10241280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สามารถอนุมาน Concrete Type จากค่าที่กำหนดให้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115550" y="6546533"/>
            <a:ext cx="7680960" cy="1355408"/>
            <a:chOff x="0" y="0"/>
            <a:chExt cx="10241280" cy="1807211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-142875"/>
              <a:ext cx="10241280" cy="6889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4"/>
                </a:lnSpc>
              </a:pPr>
              <a:r>
                <a:rPr lang="en-US" sz="2749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Monomorphization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664211"/>
              <a:ext cx="10241280" cy="114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5775" indent="-242888" lvl="1">
                <a:lnSpc>
                  <a:spcPts val="3375"/>
                </a:lnSpc>
                <a:buFont typeface="Arial"/>
                <a:buChar char="•"/>
              </a:pPr>
              <a:r>
                <a:rPr lang="en-US" sz="225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Generic Code ถูกนำไปสร้างรูปแบบที่สอดคล้องกับ Concrete Type ที่ถูกใช้งานในขั้นตอน Compile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2549104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Detailed Code + Live Demo 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9738360" cy="6720840"/>
            <a:chOff x="0" y="0"/>
            <a:chExt cx="12984480" cy="896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8448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984480">
                  <a:moveTo>
                    <a:pt x="0" y="137863"/>
                  </a:moveTo>
                  <a:cubicBezTo>
                    <a:pt x="0" y="61751"/>
                    <a:pt x="49149" y="0"/>
                    <a:pt x="109728" y="0"/>
                  </a:cubicBezTo>
                  <a:lnTo>
                    <a:pt x="12874752" y="0"/>
                  </a:lnTo>
                  <a:cubicBezTo>
                    <a:pt x="12935331" y="0"/>
                    <a:pt x="12984480" y="61751"/>
                    <a:pt x="12984480" y="137863"/>
                  </a:cubicBezTo>
                  <a:lnTo>
                    <a:pt x="12984480" y="8823257"/>
                  </a:lnTo>
                  <a:cubicBezTo>
                    <a:pt x="12984480" y="8899369"/>
                    <a:pt x="12935331" y="8961120"/>
                    <a:pt x="12874752" y="8961120"/>
                  </a:cubicBezTo>
                  <a:lnTo>
                    <a:pt x="109728" y="8961120"/>
                  </a:lnTo>
                  <a:cubicBezTo>
                    <a:pt x="49149" y="8961120"/>
                    <a:pt x="0" y="8899369"/>
                    <a:pt x="0" y="882325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807208"/>
            <a:ext cx="9052560" cy="614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#[der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ive(Debug)]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struct KeyValue&lt;K, V&gt; {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key: K,value: V,}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impl&lt;K, V&gt; KeyValue&lt;K, V&gt;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fn new(key: K, value: V) -&gt; Self {KeyValue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key, value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fn unpack(self) -&gt; (K, V)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(self.key, self.value)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impl&lt;K&gt; KeyValue&lt;K, f64&gt;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fn is_positive_metric(&amp;self) -&gt; bool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self.value &gt; 0.0}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0835640" y="2537460"/>
            <a:ext cx="6761988" cy="6720840"/>
            <a:chOff x="0" y="0"/>
            <a:chExt cx="9015984" cy="8961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15985" cy="8961120"/>
            </a:xfrm>
            <a:custGeom>
              <a:avLst/>
              <a:gdLst/>
              <a:ahLst/>
              <a:cxnLst/>
              <a:rect r="r" b="b" t="t" l="l"/>
              <a:pathLst>
                <a:path h="8961120" w="9015985">
                  <a:moveTo>
                    <a:pt x="0" y="183818"/>
                  </a:moveTo>
                  <a:cubicBezTo>
                    <a:pt x="0" y="82335"/>
                    <a:pt x="65532" y="0"/>
                    <a:pt x="146304" y="0"/>
                  </a:cubicBezTo>
                  <a:lnTo>
                    <a:pt x="8869680" y="0"/>
                  </a:lnTo>
                  <a:cubicBezTo>
                    <a:pt x="8950452" y="0"/>
                    <a:pt x="9015985" y="82335"/>
                    <a:pt x="9015985" y="183818"/>
                  </a:cubicBezTo>
                  <a:lnTo>
                    <a:pt x="9015985" y="8777302"/>
                  </a:lnTo>
                  <a:cubicBezTo>
                    <a:pt x="9015985" y="8878785"/>
                    <a:pt x="8950452" y="8961120"/>
                    <a:pt x="8869680" y="8961120"/>
                  </a:cubicBezTo>
                  <a:lnTo>
                    <a:pt x="146304" y="8961120"/>
                  </a:lnTo>
                  <a:cubicBezTo>
                    <a:pt x="65532" y="8961120"/>
                    <a:pt x="0" y="8878785"/>
                    <a:pt x="0" y="8777302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178540" y="2811780"/>
            <a:ext cx="6076188" cy="548640"/>
            <a:chOff x="0" y="0"/>
            <a:chExt cx="8101584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01584" cy="731520"/>
            </a:xfrm>
            <a:custGeom>
              <a:avLst/>
              <a:gdLst/>
              <a:ahLst/>
              <a:cxnLst/>
              <a:rect r="r" b="b" t="t" l="l"/>
              <a:pathLst>
                <a:path h="731520" w="8101584">
                  <a:moveTo>
                    <a:pt x="0" y="0"/>
                  </a:moveTo>
                  <a:lnTo>
                    <a:pt x="8101584" y="0"/>
                  </a:lnTo>
                  <a:lnTo>
                    <a:pt x="81015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96" r="0" b="-16579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101584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Checklist 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178540" y="3449955"/>
            <a:ext cx="607618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 #[derive(Debug)] → ใช้ {:?} แสดงข้อมูล Struct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78540" y="4154805"/>
            <a:ext cx="607618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 Generic Struct: KeyValue&lt;K, V&gt;  รองรับข้อมูลได้หลาย Type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78540" y="5231130"/>
            <a:ext cx="6076188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 Generic Implementation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new() สร้าง KeyValue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unpack() แยก key และ value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78540" y="6678930"/>
            <a:ext cx="6076188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 Specialized Implementation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is_positive_metric() ใช้เฉพาะ V = f64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ตรวจสอบว่า value &gt; 0.0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178540" y="8202930"/>
            <a:ext cx="607618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สิ่งที่ต้องระวังระหว่าง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Demo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is_positive_metric() ใช้ได้เฉพาะ f64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2549104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Detailed Code + Live Demo 1 (ต่อ)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5624" y="2647950"/>
            <a:ext cx="9738360" cy="5024056"/>
            <a:chOff x="0" y="0"/>
            <a:chExt cx="12984480" cy="66987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84480" cy="6698742"/>
            </a:xfrm>
            <a:custGeom>
              <a:avLst/>
              <a:gdLst/>
              <a:ahLst/>
              <a:cxnLst/>
              <a:rect r="r" b="b" t="t" l="l"/>
              <a:pathLst>
                <a:path h="6698742" w="12984480">
                  <a:moveTo>
                    <a:pt x="0" y="103058"/>
                  </a:moveTo>
                  <a:cubicBezTo>
                    <a:pt x="0" y="46161"/>
                    <a:pt x="49149" y="0"/>
                    <a:pt x="109728" y="0"/>
                  </a:cubicBezTo>
                  <a:lnTo>
                    <a:pt x="12874752" y="0"/>
                  </a:lnTo>
                  <a:cubicBezTo>
                    <a:pt x="12935331" y="0"/>
                    <a:pt x="12984480" y="46161"/>
                    <a:pt x="12984480" y="103058"/>
                  </a:cubicBezTo>
                  <a:lnTo>
                    <a:pt x="12984480" y="6595685"/>
                  </a:lnTo>
                  <a:cubicBezTo>
                    <a:pt x="12984480" y="6652582"/>
                    <a:pt x="12935331" y="6698742"/>
                    <a:pt x="12874752" y="6698742"/>
                  </a:cubicBezTo>
                  <a:lnTo>
                    <a:pt x="109728" y="6698742"/>
                  </a:lnTo>
                  <a:cubicBezTo>
                    <a:pt x="49149" y="6698742"/>
                    <a:pt x="0" y="6652582"/>
                    <a:pt x="0" y="6595685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85866" y="2793206"/>
            <a:ext cx="9678118" cy="469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find_min&lt;T: Part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ialOrd + Copy&gt;(list: &amp;[T]) -&gt; Option&lt;T&gt;{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if list.is_empty()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return None;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mut min = list[0];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for &amp;item in list.iter().skip(1)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if item &lt; min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min = item;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}Some(min)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0835640" y="2537460"/>
            <a:ext cx="6761988" cy="5134546"/>
            <a:chOff x="0" y="0"/>
            <a:chExt cx="9015984" cy="68460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15985" cy="6846063"/>
            </a:xfrm>
            <a:custGeom>
              <a:avLst/>
              <a:gdLst/>
              <a:ahLst/>
              <a:cxnLst/>
              <a:rect r="r" b="b" t="t" l="l"/>
              <a:pathLst>
                <a:path h="6846063" w="9015985">
                  <a:moveTo>
                    <a:pt x="0" y="140432"/>
                  </a:moveTo>
                  <a:cubicBezTo>
                    <a:pt x="0" y="62902"/>
                    <a:pt x="65532" y="0"/>
                    <a:pt x="146304" y="0"/>
                  </a:cubicBezTo>
                  <a:lnTo>
                    <a:pt x="8869680" y="0"/>
                  </a:lnTo>
                  <a:cubicBezTo>
                    <a:pt x="8950452" y="0"/>
                    <a:pt x="9015985" y="62902"/>
                    <a:pt x="9015985" y="140432"/>
                  </a:cubicBezTo>
                  <a:lnTo>
                    <a:pt x="9015985" y="6705630"/>
                  </a:lnTo>
                  <a:cubicBezTo>
                    <a:pt x="9015985" y="6783160"/>
                    <a:pt x="8950452" y="6846063"/>
                    <a:pt x="8869680" y="6846063"/>
                  </a:cubicBezTo>
                  <a:lnTo>
                    <a:pt x="146304" y="6846063"/>
                  </a:lnTo>
                  <a:cubicBezTo>
                    <a:pt x="65532" y="6846062"/>
                    <a:pt x="0" y="6783160"/>
                    <a:pt x="0" y="6705630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178540" y="2811780"/>
            <a:ext cx="6076188" cy="548640"/>
            <a:chOff x="0" y="0"/>
            <a:chExt cx="8101584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01584" cy="731520"/>
            </a:xfrm>
            <a:custGeom>
              <a:avLst/>
              <a:gdLst/>
              <a:ahLst/>
              <a:cxnLst/>
              <a:rect r="r" b="b" t="t" l="l"/>
              <a:pathLst>
                <a:path h="731520" w="8101584">
                  <a:moveTo>
                    <a:pt x="0" y="0"/>
                  </a:moveTo>
                  <a:lnTo>
                    <a:pt x="8101584" y="0"/>
                  </a:lnTo>
                  <a:lnTo>
                    <a:pt x="81015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96" r="0" b="-16579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101584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Checklist 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178540" y="3449955"/>
            <a:ext cx="6076188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Generic Function: find_min()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หา Minimum ของข้อมูลแต่ละ Type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PartialOrd  ใช้เปรียบเทียบค่า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Copy คัดลอกค่า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178540" y="5341620"/>
            <a:ext cx="607618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สิ่งที่ต้องระวังระหว่าง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Demo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find_min() ต้องมี PartialOrd + Copy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2549104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Detailed Code + Live Demo 1 (ต่อ)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9738360" cy="5605272"/>
            <a:chOff x="0" y="0"/>
            <a:chExt cx="12984480" cy="7473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84480" cy="7473697"/>
            </a:xfrm>
            <a:custGeom>
              <a:avLst/>
              <a:gdLst/>
              <a:ahLst/>
              <a:cxnLst/>
              <a:rect r="r" b="b" t="t" l="l"/>
              <a:pathLst>
                <a:path h="7473697" w="12984480">
                  <a:moveTo>
                    <a:pt x="0" y="114980"/>
                  </a:moveTo>
                  <a:cubicBezTo>
                    <a:pt x="0" y="51501"/>
                    <a:pt x="49149" y="0"/>
                    <a:pt x="109728" y="0"/>
                  </a:cubicBezTo>
                  <a:lnTo>
                    <a:pt x="12874752" y="0"/>
                  </a:lnTo>
                  <a:cubicBezTo>
                    <a:pt x="12935331" y="0"/>
                    <a:pt x="12984480" y="51501"/>
                    <a:pt x="12984480" y="114980"/>
                  </a:cubicBezTo>
                  <a:lnTo>
                    <a:pt x="12984480" y="7358717"/>
                  </a:lnTo>
                  <a:cubicBezTo>
                    <a:pt x="12984480" y="7422195"/>
                    <a:pt x="12935331" y="7473697"/>
                    <a:pt x="12874752" y="7473697"/>
                  </a:cubicBezTo>
                  <a:lnTo>
                    <a:pt x="109728" y="7473697"/>
                  </a:lnTo>
                  <a:cubicBezTo>
                    <a:pt x="49149" y="7473697"/>
                    <a:pt x="0" y="7422195"/>
                    <a:pt x="0" y="735871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85800" y="2723388"/>
            <a:ext cx="9794892" cy="518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sensor = KeyValue::new("Temperature", 36.6);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println!("Sensor Record: {:?}", sensor);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println!("Is positive metric: {}", sensor.is_positive_metric());</a:t>
            </a:r>
          </a:p>
          <a:p>
            <a:pPr algn="l">
              <a:lnSpc>
                <a:spcPts val="2622"/>
              </a:lnSpc>
            </a:pP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user_flag = KeyValue::new(1001, true);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println!("User Flag: {:?}", user_flag);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(uid, flag) = user_flag.unpack();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println!("Unpacked -&gt; UID: {}, Status: {}", uid, flag);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scores = [85, 92, 78, 90];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temps = [36.6, 37.2, 35.8, 38.0];</a:t>
            </a:r>
          </a:p>
          <a:p>
            <a:pPr algn="l">
              <a:lnSpc>
                <a:spcPts val="2622"/>
              </a:lnSpc>
            </a:pP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println!("Min Score: {:?}", find_min(&amp;scores));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println!("Min Temp : {:?}", find_min(&amp;temps));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88040" y="2689860"/>
            <a:ext cx="6761988" cy="5134546"/>
            <a:chOff x="0" y="0"/>
            <a:chExt cx="9015984" cy="68460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15985" cy="6846063"/>
            </a:xfrm>
            <a:custGeom>
              <a:avLst/>
              <a:gdLst/>
              <a:ahLst/>
              <a:cxnLst/>
              <a:rect r="r" b="b" t="t" l="l"/>
              <a:pathLst>
                <a:path h="6846063" w="9015985">
                  <a:moveTo>
                    <a:pt x="0" y="140432"/>
                  </a:moveTo>
                  <a:cubicBezTo>
                    <a:pt x="0" y="62902"/>
                    <a:pt x="65532" y="0"/>
                    <a:pt x="146304" y="0"/>
                  </a:cubicBezTo>
                  <a:lnTo>
                    <a:pt x="8869680" y="0"/>
                  </a:lnTo>
                  <a:cubicBezTo>
                    <a:pt x="8950452" y="0"/>
                    <a:pt x="9015985" y="62902"/>
                    <a:pt x="9015985" y="140432"/>
                  </a:cubicBezTo>
                  <a:lnTo>
                    <a:pt x="9015985" y="6705630"/>
                  </a:lnTo>
                  <a:cubicBezTo>
                    <a:pt x="9015985" y="6783160"/>
                    <a:pt x="8950452" y="6846063"/>
                    <a:pt x="8869680" y="6846063"/>
                  </a:cubicBezTo>
                  <a:lnTo>
                    <a:pt x="146304" y="6846063"/>
                  </a:lnTo>
                  <a:cubicBezTo>
                    <a:pt x="65532" y="6846062"/>
                    <a:pt x="0" y="6783160"/>
                    <a:pt x="0" y="6705630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330940" y="2964180"/>
            <a:ext cx="6076188" cy="548640"/>
            <a:chOff x="0" y="0"/>
            <a:chExt cx="8101584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01584" cy="731520"/>
            </a:xfrm>
            <a:custGeom>
              <a:avLst/>
              <a:gdLst/>
              <a:ahLst/>
              <a:cxnLst/>
              <a:rect r="r" b="b" t="t" l="l"/>
              <a:pathLst>
                <a:path h="731520" w="8101584">
                  <a:moveTo>
                    <a:pt x="0" y="0"/>
                  </a:moveTo>
                  <a:lnTo>
                    <a:pt x="8101584" y="0"/>
                  </a:lnTo>
                  <a:lnTo>
                    <a:pt x="81015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96" r="0" b="-16579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8101584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Checklist 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330940" y="3602355"/>
            <a:ext cx="6076188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Type Inference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Compiler ตรวจสอบ Type ให้อัตโนมัติ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scores  คือ i32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temps คือ f64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2549104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Detailed Code + Live Demo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9738360" cy="6720840"/>
            <a:chOff x="0" y="0"/>
            <a:chExt cx="12984480" cy="896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8448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984480">
                  <a:moveTo>
                    <a:pt x="0" y="137863"/>
                  </a:moveTo>
                  <a:cubicBezTo>
                    <a:pt x="0" y="61751"/>
                    <a:pt x="49149" y="0"/>
                    <a:pt x="109728" y="0"/>
                  </a:cubicBezTo>
                  <a:lnTo>
                    <a:pt x="12874752" y="0"/>
                  </a:lnTo>
                  <a:cubicBezTo>
                    <a:pt x="12935331" y="0"/>
                    <a:pt x="12984480" y="61751"/>
                    <a:pt x="12984480" y="137863"/>
                  </a:cubicBezTo>
                  <a:lnTo>
                    <a:pt x="12984480" y="8823257"/>
                  </a:lnTo>
                  <a:cubicBezTo>
                    <a:pt x="12984480" y="8899369"/>
                    <a:pt x="12935331" y="8961120"/>
                    <a:pt x="12874752" y="8961120"/>
                  </a:cubicBezTo>
                  <a:lnTo>
                    <a:pt x="109728" y="8961120"/>
                  </a:lnTo>
                  <a:cubicBezTo>
                    <a:pt x="49149" y="8961120"/>
                    <a:pt x="0" y="8899369"/>
                    <a:pt x="0" y="882325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13313" y="2609850"/>
            <a:ext cx="9243635" cy="691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use std::any::type_name;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use std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::mem::size_of;</a:t>
            </a:r>
          </a:p>
          <a:p>
            <a:pPr algn="l">
              <a:lnSpc>
                <a:spcPts val="2484"/>
              </a:lnSpc>
            </a:pP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inspect_execution&lt;T: std::fmt::Display&gt;(val: T)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println!(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"Type: {:&lt;5} | Value: {:&lt;5} | Function Address: {:p}",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type_name::&lt;T&gt;(),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val,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inspect_execution::&lt;T&gt; as *const ()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-US" sz="1800" b="true">
                <a:solidFill>
                  <a:srgbClr val="D4D4D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Storage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800" b="true">
                <a:solidFill>
                  <a:srgbClr val="D4D4D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&gt; { data: </a:t>
            </a:r>
            <a:r>
              <a:rPr lang="en-US" sz="1800" b="true">
                <a:solidFill>
                  <a:srgbClr val="D4D4D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,}</a:t>
            </a:r>
          </a:p>
          <a:p>
            <a:pPr algn="l">
              <a:lnSpc>
                <a:spcPts val="2484"/>
              </a:lnSpc>
            </a:pP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impl&lt;</a:t>
            </a:r>
            <a:r>
              <a:rPr lang="en-US" sz="1800" b="true">
                <a:solidFill>
                  <a:srgbClr val="D4D4D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1800" b="true">
                <a:solidFill>
                  <a:srgbClr val="D4D4D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Storage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800" b="true">
                <a:solidFill>
                  <a:srgbClr val="D4D4D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&gt;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fn </a:t>
            </a:r>
            <a:r>
              <a:rPr lang="en-US" sz="1800" b="true">
                <a:solidFill>
                  <a:srgbClr val="D4D4D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get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(&amp;self) -&gt; &amp;</a:t>
            </a:r>
            <a:r>
              <a:rPr lang="en-US" sz="1800" b="true">
                <a:solidFill>
                  <a:srgbClr val="D4D4D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&amp;self.data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fn </a:t>
            </a:r>
            <a:r>
              <a:rPr lang="en-US" sz="1800" b="true">
                <a:solidFill>
                  <a:srgbClr val="D4D4D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byte_size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(&amp;self) -&gt; </a:t>
            </a:r>
            <a:r>
              <a:rPr lang="en-US" sz="1800" b="true">
                <a:solidFill>
                  <a:srgbClr val="D4D4D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usize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800" b="true">
                <a:solidFill>
                  <a:srgbClr val="D4D4D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size_of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::&lt;</a:t>
            </a:r>
            <a:r>
              <a:rPr lang="en-US" sz="1800" b="true">
                <a:solidFill>
                  <a:srgbClr val="D4D4D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</a:t>
            </a: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&gt;()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484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0835640" y="2537460"/>
            <a:ext cx="6761988" cy="6720840"/>
            <a:chOff x="0" y="0"/>
            <a:chExt cx="9015984" cy="8961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15985" cy="8961120"/>
            </a:xfrm>
            <a:custGeom>
              <a:avLst/>
              <a:gdLst/>
              <a:ahLst/>
              <a:cxnLst/>
              <a:rect r="r" b="b" t="t" l="l"/>
              <a:pathLst>
                <a:path h="8961120" w="9015985">
                  <a:moveTo>
                    <a:pt x="0" y="183818"/>
                  </a:moveTo>
                  <a:cubicBezTo>
                    <a:pt x="0" y="82335"/>
                    <a:pt x="65532" y="0"/>
                    <a:pt x="146304" y="0"/>
                  </a:cubicBezTo>
                  <a:lnTo>
                    <a:pt x="8869680" y="0"/>
                  </a:lnTo>
                  <a:cubicBezTo>
                    <a:pt x="8950452" y="0"/>
                    <a:pt x="9015985" y="82335"/>
                    <a:pt x="9015985" y="183818"/>
                  </a:cubicBezTo>
                  <a:lnTo>
                    <a:pt x="9015985" y="8777302"/>
                  </a:lnTo>
                  <a:cubicBezTo>
                    <a:pt x="9015985" y="8878785"/>
                    <a:pt x="8950452" y="8961120"/>
                    <a:pt x="8869680" y="8961120"/>
                  </a:cubicBezTo>
                  <a:lnTo>
                    <a:pt x="146304" y="8961120"/>
                  </a:lnTo>
                  <a:cubicBezTo>
                    <a:pt x="65532" y="8961120"/>
                    <a:pt x="0" y="8878785"/>
                    <a:pt x="0" y="8777302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178540" y="2811780"/>
            <a:ext cx="6076188" cy="548640"/>
            <a:chOff x="0" y="0"/>
            <a:chExt cx="8101584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01584" cy="731520"/>
            </a:xfrm>
            <a:custGeom>
              <a:avLst/>
              <a:gdLst/>
              <a:ahLst/>
              <a:cxnLst/>
              <a:rect r="r" b="b" t="t" l="l"/>
              <a:pathLst>
                <a:path h="731520" w="8101584">
                  <a:moveTo>
                    <a:pt x="0" y="0"/>
                  </a:moveTo>
                  <a:lnTo>
                    <a:pt x="8101584" y="0"/>
                  </a:lnTo>
                  <a:lnTo>
                    <a:pt x="81015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96" r="0" b="-16579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101584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Checklist 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178540" y="3449955"/>
            <a:ext cx="6189251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 Trait Bounds (&lt;T: Display&gt;)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 • บังคับให้ Type T ต้องพิมพ์ออกจอได้ (Compile-time guarantee)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78540" y="4973955"/>
            <a:ext cx="6076188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 Inspecting Function Address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inspect_execution::&lt;T&gt; as *const ()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ดึง Address จริงของโค้ดใน Memory เพื่อดูการสร้างฟังก์ชัน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78540" y="6869430"/>
            <a:ext cx="6076188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 Zero-Cost Generic Struct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ใช้ size_of::&lt;T&gt;() เพื่อดูขนาด Memory </a:t>
            </a:r>
          </a:p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พิสูจน์ว่า Generic เพิ่ม Overhead หรือไม่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2549104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Detailed Code + Live Demo 2 (ต่อ)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9738360" cy="7173468"/>
            <a:chOff x="0" y="0"/>
            <a:chExt cx="12984480" cy="95646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84480" cy="9564625"/>
            </a:xfrm>
            <a:custGeom>
              <a:avLst/>
              <a:gdLst/>
              <a:ahLst/>
              <a:cxnLst/>
              <a:rect r="r" b="b" t="t" l="l"/>
              <a:pathLst>
                <a:path h="9564625" w="12984480">
                  <a:moveTo>
                    <a:pt x="0" y="147148"/>
                  </a:moveTo>
                  <a:cubicBezTo>
                    <a:pt x="0" y="65910"/>
                    <a:pt x="49149" y="0"/>
                    <a:pt x="109728" y="0"/>
                  </a:cubicBezTo>
                  <a:lnTo>
                    <a:pt x="12874752" y="0"/>
                  </a:lnTo>
                  <a:cubicBezTo>
                    <a:pt x="12935331" y="0"/>
                    <a:pt x="12984480" y="65910"/>
                    <a:pt x="12984480" y="147148"/>
                  </a:cubicBezTo>
                  <a:lnTo>
                    <a:pt x="12984480" y="9417476"/>
                  </a:lnTo>
                  <a:cubicBezTo>
                    <a:pt x="12984480" y="9498715"/>
                    <a:pt x="12935331" y="9564625"/>
                    <a:pt x="12874752" y="9564625"/>
                  </a:cubicBezTo>
                  <a:lnTo>
                    <a:pt x="109728" y="9564625"/>
                  </a:lnTo>
                  <a:cubicBezTo>
                    <a:pt x="49149" y="9564625"/>
                    <a:pt x="0" y="9498715"/>
                    <a:pt x="0" y="9417476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13313" y="2609850"/>
            <a:ext cx="9443384" cy="718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main() {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println!("=== 1. Function Point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er Monomorphization ===");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inspect_execution(100_i32);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inspect_execution(200_i32);</a:t>
            </a:r>
          </a:p>
          <a:p>
            <a:pPr algn="l">
              <a:lnSpc>
                <a:spcPts val="2208"/>
              </a:lnSpc>
            </a:pP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inspect_execution(3.14_f64);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inspect_execution(true);</a:t>
            </a:r>
          </a:p>
          <a:p>
            <a:pPr algn="l">
              <a:lnSpc>
                <a:spcPts val="2208"/>
              </a:lnSpc>
            </a:pP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println!("\n=== 2. Struct Memory Layout ===");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let int_store = Storage { data: 42_i32 };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let byte_store = Storage { data: 42_u8 };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let float_store = 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Storage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{ data: 42.0_f64 };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println!(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Storage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&lt;i32&gt; holds value: {:&lt;4} | consumes: {} bytes",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int_store.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(), int_store.byte_size()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println!(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"Storage&lt;u8&gt; holds value: {:&lt;4} | consumes: {} bytes",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byte_store.get(), byte_store.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byte_size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println!(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"Storage&lt;f64&gt; holds val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ue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: {:&lt;4} | consumes: {} byte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",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float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st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re.get(), 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loat_store.byte_size()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</a:p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208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0835640" y="2537460"/>
            <a:ext cx="6761988" cy="7173468"/>
            <a:chOff x="0" y="0"/>
            <a:chExt cx="9015984" cy="95646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15985" cy="9564625"/>
            </a:xfrm>
            <a:custGeom>
              <a:avLst/>
              <a:gdLst/>
              <a:ahLst/>
              <a:cxnLst/>
              <a:rect r="r" b="b" t="t" l="l"/>
              <a:pathLst>
                <a:path h="9564625" w="9015985">
                  <a:moveTo>
                    <a:pt x="0" y="196197"/>
                  </a:moveTo>
                  <a:cubicBezTo>
                    <a:pt x="0" y="87880"/>
                    <a:pt x="65532" y="0"/>
                    <a:pt x="146304" y="0"/>
                  </a:cubicBezTo>
                  <a:lnTo>
                    <a:pt x="8869680" y="0"/>
                  </a:lnTo>
                  <a:cubicBezTo>
                    <a:pt x="8950452" y="0"/>
                    <a:pt x="9015985" y="87880"/>
                    <a:pt x="9015985" y="196197"/>
                  </a:cubicBezTo>
                  <a:lnTo>
                    <a:pt x="9015985" y="9368427"/>
                  </a:lnTo>
                  <a:cubicBezTo>
                    <a:pt x="9015985" y="9476744"/>
                    <a:pt x="8950452" y="9564625"/>
                    <a:pt x="8869680" y="9564625"/>
                  </a:cubicBezTo>
                  <a:lnTo>
                    <a:pt x="146304" y="9564625"/>
                  </a:lnTo>
                  <a:cubicBezTo>
                    <a:pt x="65532" y="9564624"/>
                    <a:pt x="0" y="9476744"/>
                    <a:pt x="0" y="9368427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178540" y="2811780"/>
            <a:ext cx="6076188" cy="548640"/>
            <a:chOff x="0" y="0"/>
            <a:chExt cx="8101584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01584" cy="731520"/>
            </a:xfrm>
            <a:custGeom>
              <a:avLst/>
              <a:gdLst/>
              <a:ahLst/>
              <a:cxnLst/>
              <a:rect r="r" b="b" t="t" l="l"/>
              <a:pathLst>
                <a:path h="731520" w="8101584">
                  <a:moveTo>
                    <a:pt x="0" y="0"/>
                  </a:moveTo>
                  <a:lnTo>
                    <a:pt x="8101584" y="0"/>
                  </a:lnTo>
                  <a:lnTo>
                    <a:pt x="81015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96" r="0" b="-16579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101584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Checklist 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178540" y="3459480"/>
            <a:ext cx="6076188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 Same Type → Reuse Code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 • i32 (100) และ i32 (200) ได้ Function Address เดียวกัน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 • คอมไพเลอร์ใช้โค้ดชุดเดิม ไม่สร้างซ้ำ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83112" y="4888230"/>
            <a:ext cx="6076188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  Different Types → Split Code )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 • f64 และ bool ได้ Function Address ต่างกัน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 • Rust แอบสร้างฟังก์ชันเฉพาะของแต่ละ Type ให้ในระดับ Binary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78540" y="6316980"/>
            <a:ext cx="607618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 Struct Memory Layout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u8 = 1 byte | i32 = 4 bytes | f64 = 8 bytes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ขนาดเท่า Type ดั้งเดิมเป๊ะ (Zero-cost Abstraction)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178540" y="7421880"/>
            <a:ext cx="6076188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☐ สิ่งที่ต้องระวังระหว่าง</a:t>
            </a: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Demo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Address จะเปลี่ยนทุกครั้งที่รันใหม่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Code Bloat ยิ่งใช้ Type หลากหลาย ขนาดไฟล์ Binary จะยิ่งบวมขึ้น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Compile Time คอมไพล์ช้าลงเพราะคอมไพเลอร์ต้องแตกโค้ดและทำ Optimization ซ้ำๆ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276599"/>
            <a:ext cx="16911828" cy="3303621"/>
            <a:chOff x="0" y="0"/>
            <a:chExt cx="22549104" cy="44048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828"/>
            </a:xfrm>
            <a:custGeom>
              <a:avLst/>
              <a:gdLst/>
              <a:ahLst/>
              <a:cxnLst/>
              <a:rect r="r" b="b" t="t" l="l"/>
              <a:pathLst>
                <a:path h="440482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828"/>
                  </a:lnTo>
                  <a:lnTo>
                    <a:pt x="0" y="44048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2549104" cy="45000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Rust vs Java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878300" cy="5477933"/>
        </p:xfrm>
        <a:graphic>
          <a:graphicData uri="http://schemas.openxmlformats.org/drawingml/2006/table">
            <a:tbl>
              <a:tblPr/>
              <a:tblGrid>
                <a:gridCol w="4796688"/>
                <a:gridCol w="6040806"/>
                <a:gridCol w="6040806"/>
              </a:tblGrid>
              <a:tr h="7425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Java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8878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Syntax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&lt;T&gt; ระ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บุ Type Parameter และใช้ Trait Bound กำหนดข้อจำกัด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&lt;T&gt; เช่นกัน แต่กำหนดข้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อจำกัดผ่าน extends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3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Semantics / Behavior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Monomorphization สร้าง Code สำหรับแต่ละ Type ที่ใช้ และตรวจส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อบความถูกต้องตั้งแต่ Compile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Type Erasure ทำให้ Generic Type ส่วนใหญ่ไม่คง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อยู่ตอน Runtime และ Compiler อาจแทรก Cast ตามบริบท โดย Primitive Type อาจต้องใช้ Boxing/Unboxing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78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 Type + Trait System โดยตรวจสอบ Trait ตั้งแต่ก่อน Compile จริง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 Type และตรวจสอบ Bound ตอน Compile Time แต่ Generic Type ถูก Erasure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78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Memory Management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Ownership + Borrowing จัดการ Memory โดยไม่ต้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องมี Garbage Collector และควบคุมอายุ Resource ได้ชัดเจน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Garbage Collector จัดการ Memory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อัตโนมัติ แต่เวลาคืน Memory ไม่แน่นอน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78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Safety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ลดปัญหา Memory Safety ตั้งแต่ Compile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Reference สามารถเป็น null จึง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อาจเกิด NullPointerException ตอน Runtime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2549104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Rust vs Python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878300" cy="5037667"/>
        </p:xfrm>
        <a:graphic>
          <a:graphicData uri="http://schemas.openxmlformats.org/drawingml/2006/table">
            <a:tbl>
              <a:tblPr/>
              <a:tblGrid>
                <a:gridCol w="4796688"/>
                <a:gridCol w="6040806"/>
                <a:gridCol w="6040806"/>
              </a:tblGrid>
              <a:tr h="7427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7427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Syntax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&lt;T&gt; และ Trait Bound กำหนดข้อจำกัดข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อง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TypeVar และ Generic ผ่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าน typing เป็น Type Hint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Semantics / Behavior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อบและ Monomorphize ตอน Compile Time ได้ Native Code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Python Runtime ไม่บังคั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บ Type Annotation แต่ใช้เครื่องมือ ช่วยตรวจ Type ก่อน Runtime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 Type + Trait System 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 Type และ Trait ตั้งแต่ Compile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Dynamic Type + Duck Typing 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อบพฤติกรรม/Type ของ Object ขณะ Runtime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Memory Management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Ownership + Borrowing โด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ยไม่ต้องมี Garbage Collector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Reference Counting + Garbage Collector จัดการ Memory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อัตโนมัติ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Safety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 Type และ Ownership ก่อนทำงาน ช่วยลดข้อผิดพลาดตั้งแต่ Compile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ข้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อผิดพลาดด้าน Type มักตรวจพบตอน Runtime และอาจเกิด TypeError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2549104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Rust vs C++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878300" cy="5182658"/>
        </p:xfrm>
        <a:graphic>
          <a:graphicData uri="http://schemas.openxmlformats.org/drawingml/2006/table">
            <a:tbl>
              <a:tblPr/>
              <a:tblGrid>
                <a:gridCol w="4796688"/>
                <a:gridCol w="6040806"/>
                <a:gridCol w="6040806"/>
              </a:tblGrid>
              <a:tr h="7426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C++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Syntax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&lt;T&gt; และ Trait Bound สำหรั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บ Generic โดยตรง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Template เช่น template &lt;typename T&gt; และสามารถใช้ Concepts ใน C++20 เพื่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อกำหนดข้อจำกัดของ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Semantics / Behavior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อบและ Monomorphize ตอน Compile Time สร้างโค้ดเฉพาะแต่ละ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ทำ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Template Instantiation ตอน Compile Time เพื่อสร้างโค้ดตาม Type ที่ใช้งาน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 Type + Trait System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บังคับให้ Type มีพฤติกรรมตาม Trait ที่กำหนด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 Type System และใช้ Template กำหนดข้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อจำกัดของ Type ได้ ตรวจสอบข้อกำหนดตั้งแต่ Compile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Memory Management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Ownership + Borrowing จัดก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าร Memory โดยไม่ต้องมี Garbage Collector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จัดการ Memory ได้ทั้งแบบ Manual และ RAII โดยไม่มี Garbage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Collector แบบ Java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Safety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 Type และ Ownership ช่วยป้องกัน Memory Bug หลายประเภทตั้งแต่ Compile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ไม่มีระบบ Memory Safety แบบ Rust โดยตรง จึงยังสามารถเกิดปัญหา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ได้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2549104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5408676" cy="2537460"/>
            <a:chOff x="0" y="0"/>
            <a:chExt cx="7211568" cy="3383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11568" cy="3383280"/>
            </a:xfrm>
            <a:custGeom>
              <a:avLst/>
              <a:gdLst/>
              <a:ahLst/>
              <a:cxnLst/>
              <a:rect r="r" b="b" t="t" l="l"/>
              <a:pathLst>
                <a:path h="3383280" w="72115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65264" y="0"/>
                  </a:lnTo>
                  <a:cubicBezTo>
                    <a:pt x="7146036" y="0"/>
                    <a:pt x="7211568" y="65532"/>
                    <a:pt x="7211568" y="146304"/>
                  </a:cubicBezTo>
                  <a:lnTo>
                    <a:pt x="7211568" y="3236976"/>
                  </a:lnTo>
                  <a:cubicBezTo>
                    <a:pt x="7211568" y="3317748"/>
                    <a:pt x="7146036" y="3383280"/>
                    <a:pt x="7065264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743200"/>
            <a:ext cx="4860036" cy="548640"/>
            <a:chOff x="0" y="0"/>
            <a:chExt cx="6480048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8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604" r="0" b="-1226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4800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Syntax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0120" y="3322320"/>
            <a:ext cx="4860036" cy="132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 &lt;T&gt; สำหรับประกาศ Generic </a:t>
            </a: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Type Parameter</a:t>
            </a: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 Trait Bound เช่น T: PartialOrd เพื่อกำหนดข้อจำกัดของ Type</a:t>
            </a: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รองรับ Parametric Polymorphism</a:t>
            </a:r>
          </a:p>
          <a:p>
            <a:pPr algn="l">
              <a:lnSpc>
                <a:spcPts val="207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6437376" y="2537460"/>
            <a:ext cx="5408676" cy="2537460"/>
            <a:chOff x="0" y="0"/>
            <a:chExt cx="7211568" cy="3383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11568" cy="3383280"/>
            </a:xfrm>
            <a:custGeom>
              <a:avLst/>
              <a:gdLst/>
              <a:ahLst/>
              <a:cxnLst/>
              <a:rect r="r" b="b" t="t" l="l"/>
              <a:pathLst>
                <a:path h="3383280" w="72115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65264" y="0"/>
                  </a:lnTo>
                  <a:cubicBezTo>
                    <a:pt x="7146036" y="0"/>
                    <a:pt x="7211568" y="65532"/>
                    <a:pt x="7211568" y="146304"/>
                  </a:cubicBezTo>
                  <a:lnTo>
                    <a:pt x="7211568" y="3236976"/>
                  </a:lnTo>
                  <a:cubicBezTo>
                    <a:pt x="7211568" y="3317748"/>
                    <a:pt x="7146036" y="3383280"/>
                    <a:pt x="7065264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711696" y="2743200"/>
            <a:ext cx="4860036" cy="548640"/>
            <a:chOff x="0" y="0"/>
            <a:chExt cx="6480048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8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604" r="0" b="-12260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4800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Semantics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711696" y="3322320"/>
            <a:ext cx="486003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Ge</a:t>
            </a: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neric Function ทำงานกับหลาย Type</a:t>
            </a: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Trait Bound กำหนดความสามารถที่ Type ต้องมี</a:t>
            </a: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เป็นการใช้ Parametric + Bounded Polymorphism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188952" y="2537460"/>
            <a:ext cx="5408676" cy="2537460"/>
            <a:chOff x="0" y="0"/>
            <a:chExt cx="7211568" cy="3383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11568" cy="3383280"/>
            </a:xfrm>
            <a:custGeom>
              <a:avLst/>
              <a:gdLst/>
              <a:ahLst/>
              <a:cxnLst/>
              <a:rect r="r" b="b" t="t" l="l"/>
              <a:pathLst>
                <a:path h="3383280" w="72115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65264" y="0"/>
                  </a:lnTo>
                  <a:cubicBezTo>
                    <a:pt x="7146036" y="0"/>
                    <a:pt x="7211568" y="65532"/>
                    <a:pt x="7211568" y="146304"/>
                  </a:cubicBezTo>
                  <a:lnTo>
                    <a:pt x="7211568" y="3236976"/>
                  </a:lnTo>
                  <a:cubicBezTo>
                    <a:pt x="7211568" y="3317748"/>
                    <a:pt x="7146036" y="3383280"/>
                    <a:pt x="7065264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463272" y="2743200"/>
            <a:ext cx="4860036" cy="548640"/>
            <a:chOff x="0" y="0"/>
            <a:chExt cx="6480048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8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604" r="0" b="-12260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4800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 System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463272" y="3322320"/>
            <a:ext cx="486003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 Generics + Traits </a:t>
            </a: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เพื่อรองรับหลาย Type</a:t>
            </a: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Compiler ตรวจสอบ Type และ Trait Bound ตอน Compile Time ช่วยเพิ่ม Type Safety</a:t>
            </a:r>
          </a:p>
          <a:p>
            <a:pPr algn="l">
              <a:lnSpc>
                <a:spcPts val="2070"/>
              </a:lnSpc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685800" y="5417820"/>
            <a:ext cx="5408676" cy="2537460"/>
            <a:chOff x="0" y="0"/>
            <a:chExt cx="7211568" cy="3383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11568" cy="3383280"/>
            </a:xfrm>
            <a:custGeom>
              <a:avLst/>
              <a:gdLst/>
              <a:ahLst/>
              <a:cxnLst/>
              <a:rect r="r" b="b" t="t" l="l"/>
              <a:pathLst>
                <a:path h="3383280" w="72115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65264" y="0"/>
                  </a:lnTo>
                  <a:cubicBezTo>
                    <a:pt x="7146036" y="0"/>
                    <a:pt x="7211568" y="65532"/>
                    <a:pt x="7211568" y="146304"/>
                  </a:cubicBezTo>
                  <a:lnTo>
                    <a:pt x="7211568" y="3236976"/>
                  </a:lnTo>
                  <a:cubicBezTo>
                    <a:pt x="7211568" y="3317748"/>
                    <a:pt x="7146036" y="3383280"/>
                    <a:pt x="7065264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0120" y="5623560"/>
            <a:ext cx="4860036" cy="548640"/>
            <a:chOff x="0" y="0"/>
            <a:chExt cx="6480048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8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604" r="0" b="-12260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4800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Memory / Resource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60120" y="6202680"/>
            <a:ext cx="486003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ทำงานร</a:t>
            </a: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่วมกับ Ownership, Borrowing และ Lifetime</a:t>
            </a: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Compiler ตรวจสอบ Memory Safety ตอน Compile Time</a:t>
            </a: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 Monomorphization สร้าง Code ตาม Concrete Type</a:t>
            </a:r>
          </a:p>
          <a:p>
            <a:pPr algn="l">
              <a:lnSpc>
                <a:spcPts val="2070"/>
              </a:lnSpc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6437376" y="5417820"/>
            <a:ext cx="5408676" cy="2537460"/>
            <a:chOff x="0" y="0"/>
            <a:chExt cx="7211568" cy="3383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11568" cy="3383280"/>
            </a:xfrm>
            <a:custGeom>
              <a:avLst/>
              <a:gdLst/>
              <a:ahLst/>
              <a:cxnLst/>
              <a:rect r="r" b="b" t="t" l="l"/>
              <a:pathLst>
                <a:path h="3383280" w="72115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65264" y="0"/>
                  </a:lnTo>
                  <a:cubicBezTo>
                    <a:pt x="7146036" y="0"/>
                    <a:pt x="7211568" y="65532"/>
                    <a:pt x="7211568" y="146304"/>
                  </a:cubicBezTo>
                  <a:lnTo>
                    <a:pt x="7211568" y="3236976"/>
                  </a:lnTo>
                  <a:cubicBezTo>
                    <a:pt x="7211568" y="3317748"/>
                    <a:pt x="7146036" y="3383280"/>
                    <a:pt x="7065264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711696" y="5623560"/>
            <a:ext cx="4860036" cy="548640"/>
            <a:chOff x="0" y="0"/>
            <a:chExt cx="6480048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8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604" r="0" b="-12260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4800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Abstraction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711696" y="6202680"/>
            <a:ext cx="4860036" cy="1066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 Trait กำหนดพฤติกรรมของ Type</a:t>
            </a: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 Compo</a:t>
            </a: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sition + Trait แทน Clas</a:t>
            </a: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 Inheritance</a:t>
            </a: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Generics ช่วยสร้าง Abstraction ที่นำกลับมาใช้ได้</a:t>
            </a:r>
          </a:p>
          <a:p>
            <a:pPr algn="l">
              <a:lnSpc>
                <a:spcPts val="2070"/>
              </a:lnSpc>
            </a:pPr>
          </a:p>
        </p:txBody>
      </p:sp>
      <p:grpSp>
        <p:nvGrpSpPr>
          <p:cNvPr name="Group 40" id="40"/>
          <p:cNvGrpSpPr/>
          <p:nvPr/>
        </p:nvGrpSpPr>
        <p:grpSpPr>
          <a:xfrm rot="0">
            <a:off x="12188952" y="5417820"/>
            <a:ext cx="5408676" cy="2537460"/>
            <a:chOff x="0" y="0"/>
            <a:chExt cx="7211568" cy="3383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211568" cy="3383280"/>
            </a:xfrm>
            <a:custGeom>
              <a:avLst/>
              <a:gdLst/>
              <a:ahLst/>
              <a:cxnLst/>
              <a:rect r="r" b="b" t="t" l="l"/>
              <a:pathLst>
                <a:path h="3383280" w="72115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65264" y="0"/>
                  </a:lnTo>
                  <a:cubicBezTo>
                    <a:pt x="7146036" y="0"/>
                    <a:pt x="7211568" y="65532"/>
                    <a:pt x="7211568" y="146304"/>
                  </a:cubicBezTo>
                  <a:lnTo>
                    <a:pt x="7211568" y="3236976"/>
                  </a:lnTo>
                  <a:cubicBezTo>
                    <a:pt x="7211568" y="3317748"/>
                    <a:pt x="7146036" y="3383280"/>
                    <a:pt x="7065264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463272" y="5623560"/>
            <a:ext cx="4860036" cy="548640"/>
            <a:chOff x="0" y="0"/>
            <a:chExt cx="6480048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8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604" r="0" b="-12260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4800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Rust?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2463272" y="6202680"/>
            <a:ext cx="4860036" cy="1066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ตรวจสอบ Type และ Memory ตั้งแต่ Compile Time</a:t>
            </a: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Trait Bound กำหนดข้อกำหนดของ Type ชัดเจน</a:t>
            </a: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Monomorphization ช่วยลด Runtime Overhead</a:t>
            </a:r>
          </a:p>
          <a:p>
            <a:pPr algn="l">
              <a:lnSpc>
                <a:spcPts val="2070"/>
              </a:lnSpc>
            </a:pPr>
          </a:p>
        </p:txBody>
      </p:sp>
      <p:grpSp>
        <p:nvGrpSpPr>
          <p:cNvPr name="Group 46" id="4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385316"/>
            <a:ext cx="16911828" cy="1021496"/>
            <a:chOff x="0" y="0"/>
            <a:chExt cx="22549104" cy="13619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61994"/>
            </a:xfrm>
            <a:custGeom>
              <a:avLst/>
              <a:gdLst/>
              <a:ahLst/>
              <a:cxnLst/>
              <a:rect r="r" b="b" t="t" l="l"/>
              <a:pathLst>
                <a:path h="136199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61994"/>
                  </a:lnTo>
                  <a:lnTo>
                    <a:pt x="0" y="13619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597" r="0" b="-26958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549104" cy="1419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74"/>
                </a:lnSpc>
                <a:spcBef>
                  <a:spcPct val="0"/>
                </a:spcBef>
              </a:pPr>
              <a:r>
                <a:rPr lang="en-US" b="true" sz="2299" strike="noStrike" u="non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Common Mistake 1 — Missing Trait Bounds</a:t>
              </a:r>
            </a:p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แสดงข้อจำกัดของการคำนวณทางคณิตศาสตร์บนชนิดข้อมูลปลายเปิด และการทำงานของกลไก Nominal Contract Enforcement ที่คอมไพเลอร์บังคับตรวจสัญญาล่วงหน้าตั้งแต่จุดประกาศฟังก์ชัน เพื่อขจัดข้อผิดพลาดก่อนถึงขั้นตอนรันไทม์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โค้ดที่ผิด: เรียกใช้ Operation บน Generic โดยไร้ Trait Bound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โค้ดที่ถูกต้อง: กำหนดข้อกำหนดคุณสมบัติผ่าน where clause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586949" y="4026086"/>
            <a:ext cx="8152982" cy="2234827"/>
          </a:xfrm>
          <a:custGeom>
            <a:avLst/>
            <a:gdLst/>
            <a:ahLst/>
            <a:cxnLst/>
            <a:rect r="r" b="b" t="t" l="l"/>
            <a:pathLst>
              <a:path h="2234827" w="8152982">
                <a:moveTo>
                  <a:pt x="0" y="0"/>
                </a:moveTo>
                <a:lnTo>
                  <a:pt x="8152982" y="0"/>
                </a:lnTo>
                <a:lnTo>
                  <a:pt x="8152982" y="2234828"/>
                </a:lnTo>
                <a:lnTo>
                  <a:pt x="0" y="2234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80188" y="3086100"/>
            <a:ext cx="6900024" cy="4308540"/>
          </a:xfrm>
          <a:custGeom>
            <a:avLst/>
            <a:gdLst/>
            <a:ahLst/>
            <a:cxnLst/>
            <a:rect r="r" b="b" t="t" l="l"/>
            <a:pathLst>
              <a:path h="4308540" w="6900024">
                <a:moveTo>
                  <a:pt x="0" y="0"/>
                </a:moveTo>
                <a:lnTo>
                  <a:pt x="6900024" y="0"/>
                </a:lnTo>
                <a:lnTo>
                  <a:pt x="6900024" y="4308540"/>
                </a:lnTo>
                <a:lnTo>
                  <a:pt x="0" y="4308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688086" y="7527990"/>
            <a:ext cx="16911828" cy="2007870"/>
            <a:chOff x="0" y="0"/>
            <a:chExt cx="22549104" cy="267716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320040"/>
              <a:ext cx="22549104" cy="2357120"/>
              <a:chOff x="0" y="0"/>
              <a:chExt cx="22549104" cy="235712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2549104" cy="2357120"/>
              </a:xfrm>
              <a:custGeom>
                <a:avLst/>
                <a:gdLst/>
                <a:ahLst/>
                <a:cxnLst/>
                <a:rect r="r" b="b" t="t" l="l"/>
                <a:pathLst>
                  <a:path h="2357120" w="22549104">
                    <a:moveTo>
                      <a:pt x="0" y="117856"/>
                    </a:moveTo>
                    <a:cubicBezTo>
                      <a:pt x="0" y="52790"/>
                      <a:pt x="65532" y="0"/>
                      <a:pt x="146304" y="0"/>
                    </a:cubicBezTo>
                    <a:lnTo>
                      <a:pt x="22402800" y="0"/>
                    </a:lnTo>
                    <a:cubicBezTo>
                      <a:pt x="22483572" y="0"/>
                      <a:pt x="22549104" y="52790"/>
                      <a:pt x="22549104" y="117856"/>
                    </a:cubicBezTo>
                    <a:lnTo>
                      <a:pt x="22549104" y="2239264"/>
                    </a:lnTo>
                    <a:cubicBezTo>
                      <a:pt x="22549104" y="2304330"/>
                      <a:pt x="22483572" y="2357120"/>
                      <a:pt x="22402800" y="2357120"/>
                    </a:cubicBezTo>
                    <a:lnTo>
                      <a:pt x="146304" y="2357120"/>
                    </a:lnTo>
                    <a:cubicBezTo>
                      <a:pt x="65532" y="2357120"/>
                      <a:pt x="0" y="2304330"/>
                      <a:pt x="0" y="2239264"/>
                    </a:cubicBezTo>
                    <a:close/>
                  </a:path>
                </a:pathLst>
              </a:custGeom>
              <a:solidFill>
                <a:srgbClr val="F7F0F0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576072" y="0"/>
              <a:ext cx="21634704" cy="640080"/>
              <a:chOff x="0" y="0"/>
              <a:chExt cx="21634704" cy="64008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634704" cy="640080"/>
              </a:xfrm>
              <a:custGeom>
                <a:avLst/>
                <a:gdLst/>
                <a:ahLst/>
                <a:cxnLst/>
                <a:rect r="r" b="b" t="t" l="l"/>
                <a:pathLst>
                  <a:path h="640080" w="21634704">
                    <a:moveTo>
                      <a:pt x="0" y="0"/>
                    </a:moveTo>
                    <a:lnTo>
                      <a:pt x="21634704" y="0"/>
                    </a:lnTo>
                    <a:lnTo>
                      <a:pt x="21634704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08594" r="0" b="-608594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21634704" cy="6877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b="true" sz="2100" strike="noStrike" u="none">
                    <a:solidFill>
                      <a:srgbClr val="8B2E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 </a:t>
                </a: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323464" y="328930"/>
              <a:ext cx="20146015" cy="1832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0"/>
                </a:lnSpc>
              </a:pPr>
              <a:r>
                <a:rPr lang="en-US" b="true" sz="1800" strike="noStrike" u="non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ทำไม Rust ถึงออกแบบเช่นนี้? </a:t>
              </a:r>
            </a:p>
            <a:p>
              <a:pPr algn="l" marL="0" indent="0" lvl="0">
                <a:lnSpc>
                  <a:spcPts val="2700"/>
                </a:lnSpc>
              </a:pPr>
              <a:r>
                <a:rPr lang="en-US" b="true" sz="1800" strike="noStrike" u="non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Nominal Contract Enforcement at Definition Site:</a:t>
              </a:r>
              <a:r>
                <a:rPr lang="en-US" sz="1800" strike="noStrike" u="none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Rust บังคับตรวจสอบสัญญา ณ จุดประกาศฟังก์ชันทันที ต่างจาก Duck Typing ใน C++ Templates ที่ยอมให้ผ่าน      เสี่ยงไปเจอข้อผิดพลาดที่ Call Site</a:t>
              </a:r>
            </a:p>
            <a:p>
              <a:pPr algn="l" marL="0" indent="0" lvl="0">
                <a:lnSpc>
                  <a:spcPts val="2700"/>
                </a:lnSpc>
              </a:pPr>
              <a:r>
                <a:rPr lang="en-US" b="true" sz="1800" strike="noStrike" u="non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Coherence &amp; Predictability:</a:t>
              </a:r>
              <a:r>
                <a:rPr lang="en-US" sz="1800" strike="noStrike" u="none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การระบุ Trait Bounds ชัดเจนทำให้ Compiler รับประกัน Type-Safety ได้ 100% ตั้งแต่ตอนคอมไพล์ โดยไม่ต้องเห็นประเภทข้อมูลจริงล่วงหน้า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385316"/>
            <a:ext cx="16418176" cy="1021496"/>
            <a:chOff x="0" y="0"/>
            <a:chExt cx="21890902" cy="13619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90903" cy="1361994"/>
            </a:xfrm>
            <a:custGeom>
              <a:avLst/>
              <a:gdLst/>
              <a:ahLst/>
              <a:cxnLst/>
              <a:rect r="r" b="b" t="t" l="l"/>
              <a:pathLst>
                <a:path h="1361994" w="21890903">
                  <a:moveTo>
                    <a:pt x="0" y="0"/>
                  </a:moveTo>
                  <a:lnTo>
                    <a:pt x="21890903" y="0"/>
                  </a:lnTo>
                  <a:lnTo>
                    <a:pt x="21890903" y="1361994"/>
                  </a:lnTo>
                  <a:lnTo>
                    <a:pt x="0" y="13619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597" r="-3006" b="-26958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890902" cy="1419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74"/>
                </a:lnSpc>
                <a:spcBef>
                  <a:spcPct val="0"/>
                </a:spcBef>
              </a:pPr>
              <a:r>
                <a:rPr lang="en-US" b="true" sz="2299" strike="noStrike" u="non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Common Mistake 2 — Object Safety Violations</a:t>
              </a:r>
            </a:p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แสดงเงื่อนไขความปลอดภัยของวัตถุ (Object Safety) ในการแปลง Trait เป็น Trait Object ซึ่งถูกจำกัดด้วยสถาปัตยกรรมของตาราง Vtable ในหน่วยความจำที่ต้องทราบขนาดและตำแหน่งพอยน์เตอร์ฟังก์ชันที่แน่นอนตั้งแต่คอมไพล์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โค้ดที่ผิด: สร้าง dyn Trait ที่มี Generic Method หรือคืนค่า Self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โค้ดที่ถูกต้อง: ออกแบบ Trait ให้สอดคล้องกับ Object Safety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45042" y="7699652"/>
            <a:ext cx="16911828" cy="2130097"/>
            <a:chOff x="0" y="0"/>
            <a:chExt cx="22549104" cy="284013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2549104" cy="2840130"/>
              <a:chOff x="0" y="0"/>
              <a:chExt cx="22549104" cy="284013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2549104" cy="2840130"/>
              </a:xfrm>
              <a:custGeom>
                <a:avLst/>
                <a:gdLst/>
                <a:ahLst/>
                <a:cxnLst/>
                <a:rect r="r" b="b" t="t" l="l"/>
                <a:pathLst>
                  <a:path h="2840130" w="22549104">
                    <a:moveTo>
                      <a:pt x="0" y="142006"/>
                    </a:moveTo>
                    <a:cubicBezTo>
                      <a:pt x="0" y="63607"/>
                      <a:pt x="65532" y="0"/>
                      <a:pt x="146304" y="0"/>
                    </a:cubicBezTo>
                    <a:lnTo>
                      <a:pt x="22402800" y="0"/>
                    </a:lnTo>
                    <a:cubicBezTo>
                      <a:pt x="22483572" y="0"/>
                      <a:pt x="22549104" y="63607"/>
                      <a:pt x="22549104" y="142006"/>
                    </a:cubicBezTo>
                    <a:lnTo>
                      <a:pt x="22549104" y="2698123"/>
                    </a:lnTo>
                    <a:cubicBezTo>
                      <a:pt x="22549104" y="2776523"/>
                      <a:pt x="22483572" y="2840130"/>
                      <a:pt x="22402800" y="2840130"/>
                    </a:cubicBezTo>
                    <a:lnTo>
                      <a:pt x="146304" y="2840130"/>
                    </a:lnTo>
                    <a:cubicBezTo>
                      <a:pt x="65532" y="2840130"/>
                      <a:pt x="0" y="2776523"/>
                      <a:pt x="0" y="2698123"/>
                    </a:cubicBezTo>
                    <a:close/>
                  </a:path>
                </a:pathLst>
              </a:custGeom>
              <a:solidFill>
                <a:srgbClr val="F7F0F0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457200" y="274320"/>
              <a:ext cx="21634704" cy="640080"/>
              <a:chOff x="0" y="0"/>
              <a:chExt cx="21634704" cy="64008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634704" cy="640080"/>
              </a:xfrm>
              <a:custGeom>
                <a:avLst/>
                <a:gdLst/>
                <a:ahLst/>
                <a:cxnLst/>
                <a:rect r="r" b="b" t="t" l="l"/>
                <a:pathLst>
                  <a:path h="640080" w="21634704">
                    <a:moveTo>
                      <a:pt x="0" y="0"/>
                    </a:moveTo>
                    <a:lnTo>
                      <a:pt x="21634704" y="0"/>
                    </a:lnTo>
                    <a:lnTo>
                      <a:pt x="21634704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38207" r="0" b="-538207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21634704" cy="6877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b="true" sz="2100" strike="noStrike" u="none">
                    <a:solidFill>
                      <a:srgbClr val="8B2E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 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736600" y="309880"/>
              <a:ext cx="21634704" cy="2122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34"/>
                </a:lnSpc>
                <a:spcBef>
                  <a:spcPct val="0"/>
                </a:spcBef>
              </a:pPr>
              <a:r>
                <a:rPr lang="en-US" b="true" sz="2099" strike="noStrike" u="non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กฎ Object Safety และสถาปัตยกรรมหน่วยความจำ (Memory Layout)</a:t>
              </a:r>
            </a:p>
            <a:p>
              <a:pPr algn="l" marL="0" indent="0" lvl="0">
                <a:lnSpc>
                  <a:spcPts val="243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Vtable Size Must Be Fixed: </a:t>
              </a:r>
              <a:r>
                <a:rPr lang="en-US" sz="1800" strike="noStrike" u="none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ตาราง Virtual Method Table (Vtable) ต้องมีขนาดตายตัวในคอมไพล์ไทม์ หาก Method มี Generic ย่อย จะทำให้เกิดฟังก์ชันได้ไม่จำกัดจำนวนจนไม่สามารถจองขนาด Pointer ใน Vtable ได้</a:t>
              </a:r>
            </a:p>
            <a:p>
              <a:pPr algn="l" marL="0" indent="0" lvl="0">
                <a:lnSpc>
                  <a:spcPts val="243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ข้อจำกัดด้านขนาด (</a:t>
              </a:r>
              <a:r>
                <a:rPr lang="en-US" b="true" sz="1800" strike="noStrike" u="non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Self: Sized</a:t>
              </a:r>
              <a:r>
                <a:rPr lang="en-US" b="true" sz="1800" strike="noStrike" u="non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)</a:t>
              </a:r>
              <a:r>
                <a:rPr lang="en-US" b="true" sz="1800" strike="noStrike" u="non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:</a:t>
              </a:r>
              <a:r>
                <a:rPr lang="en-US" sz="1800" strike="noStrike" u="none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dyn Trait ไม่ทราบขนาดหน่วยความจำที่แน่นอน ( Unsized / ?Sized) จึงห้าม Method คืนค่า Self โดยตรง เว้นแต่จะห่อด้วย Pointer (เช่น Box หรือ &amp;Self)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85800" y="3208038"/>
            <a:ext cx="7751571" cy="4369676"/>
          </a:xfrm>
          <a:custGeom>
            <a:avLst/>
            <a:gdLst/>
            <a:ahLst/>
            <a:cxnLst/>
            <a:rect r="r" b="b" t="t" l="l"/>
            <a:pathLst>
              <a:path h="4369676" w="7751571">
                <a:moveTo>
                  <a:pt x="0" y="0"/>
                </a:moveTo>
                <a:lnTo>
                  <a:pt x="7751571" y="0"/>
                </a:lnTo>
                <a:lnTo>
                  <a:pt x="7751571" y="4369676"/>
                </a:lnTo>
                <a:lnTo>
                  <a:pt x="0" y="4369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202282" y="3086100"/>
            <a:ext cx="5655836" cy="4656843"/>
          </a:xfrm>
          <a:custGeom>
            <a:avLst/>
            <a:gdLst/>
            <a:ahLst/>
            <a:cxnLst/>
            <a:rect r="r" b="b" t="t" l="l"/>
            <a:pathLst>
              <a:path h="4656843" w="5655836">
                <a:moveTo>
                  <a:pt x="0" y="0"/>
                </a:moveTo>
                <a:lnTo>
                  <a:pt x="5655836" y="0"/>
                </a:lnTo>
                <a:lnTo>
                  <a:pt x="5655836" y="4656843"/>
                </a:lnTo>
                <a:lnTo>
                  <a:pt x="0" y="46568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1419606"/>
            <a:ext cx="16911828" cy="1021496"/>
            <a:chOff x="0" y="0"/>
            <a:chExt cx="22549104" cy="13619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61994"/>
            </a:xfrm>
            <a:custGeom>
              <a:avLst/>
              <a:gdLst/>
              <a:ahLst/>
              <a:cxnLst/>
              <a:rect r="r" b="b" t="t" l="l"/>
              <a:pathLst>
                <a:path h="136199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61994"/>
                  </a:lnTo>
                  <a:lnTo>
                    <a:pt x="0" y="13619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597" r="0" b="-26958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549104" cy="1419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74"/>
                </a:lnSpc>
                <a:spcBef>
                  <a:spcPct val="0"/>
                </a:spcBef>
              </a:pPr>
              <a:r>
                <a:rPr lang="en-US" b="true" sz="2299" strike="noStrike" u="non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Exercise 1 — Generic In-Memory Cache</a:t>
              </a:r>
            </a:p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การออกแบบโครงสร้างข้อมูลแบบนำกลับมาใช้ซ้ำ (Reusable Generic Data Structure) ร่วมกับเงื่อนไข Trait Bounds, การบริหารหน่วยความจำด้วยนโยบาย FIFO Eviction เมื่อเต็มความจุ และการรับประกันความปลอดภัยจากค่าว่าง (Null-Safety) 100% ด้วยชนิดข้อมูล Option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667000"/>
            <a:ext cx="16088868" cy="480060"/>
            <a:chOff x="0" y="0"/>
            <a:chExt cx="2145182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451824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99273" y="2566503"/>
            <a:ext cx="5459086" cy="2992388"/>
          </a:xfrm>
          <a:custGeom>
            <a:avLst/>
            <a:gdLst/>
            <a:ahLst/>
            <a:cxnLst/>
            <a:rect r="r" b="b" t="t" l="l"/>
            <a:pathLst>
              <a:path h="2992388" w="5459086">
                <a:moveTo>
                  <a:pt x="0" y="0"/>
                </a:moveTo>
                <a:lnTo>
                  <a:pt x="5459086" y="0"/>
                </a:lnTo>
                <a:lnTo>
                  <a:pt x="5459086" y="2992387"/>
                </a:lnTo>
                <a:lnTo>
                  <a:pt x="0" y="299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610110" y="3618773"/>
            <a:ext cx="5989804" cy="5620442"/>
            <a:chOff x="0" y="0"/>
            <a:chExt cx="7986406" cy="74939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86406" cy="7493922"/>
            </a:xfrm>
            <a:custGeom>
              <a:avLst/>
              <a:gdLst/>
              <a:ahLst/>
              <a:cxnLst/>
              <a:rect r="r" b="b" t="t" l="l"/>
              <a:pathLst>
                <a:path h="7493922" w="7986406">
                  <a:moveTo>
                    <a:pt x="0" y="324062"/>
                  </a:moveTo>
                  <a:cubicBezTo>
                    <a:pt x="0" y="145153"/>
                    <a:pt x="72573" y="0"/>
                    <a:pt x="162023" y="0"/>
                  </a:cubicBezTo>
                  <a:lnTo>
                    <a:pt x="7824383" y="0"/>
                  </a:lnTo>
                  <a:cubicBezTo>
                    <a:pt x="7913833" y="0"/>
                    <a:pt x="7986406" y="145153"/>
                    <a:pt x="7986406" y="324062"/>
                  </a:cubicBezTo>
                  <a:lnTo>
                    <a:pt x="7986406" y="7169861"/>
                  </a:lnTo>
                  <a:cubicBezTo>
                    <a:pt x="7986406" y="7348770"/>
                    <a:pt x="7913833" y="7493922"/>
                    <a:pt x="7824383" y="7493922"/>
                  </a:cubicBezTo>
                  <a:lnTo>
                    <a:pt x="162023" y="7493922"/>
                  </a:lnTo>
                  <a:cubicBezTo>
                    <a:pt x="72573" y="7493922"/>
                    <a:pt x="0" y="7348769"/>
                    <a:pt x="0" y="7169861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757260" y="4097816"/>
            <a:ext cx="5428888" cy="4727888"/>
            <a:chOff x="0" y="0"/>
            <a:chExt cx="7238518" cy="630385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238518" cy="547081"/>
              <a:chOff x="0" y="0"/>
              <a:chExt cx="8468998" cy="64008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468999" cy="640080"/>
              </a:xfrm>
              <a:custGeom>
                <a:avLst/>
                <a:gdLst/>
                <a:ahLst/>
                <a:cxnLst/>
                <a:rect r="r" b="b" t="t" l="l"/>
                <a:pathLst>
                  <a:path h="640080" w="8468999">
                    <a:moveTo>
                      <a:pt x="0" y="0"/>
                    </a:moveTo>
                    <a:lnTo>
                      <a:pt x="8468999" y="0"/>
                    </a:lnTo>
                    <a:lnTo>
                      <a:pt x="8468999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2894" r="-25245" b="-272894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8468998" cy="6877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2339"/>
                  </a:lnSpc>
                  <a:spcBef>
                    <a:spcPct val="0"/>
                  </a:spcBef>
                </a:pPr>
                <a:r>
                  <a:rPr lang="en-US" b="true" sz="1949" strike="noStrike" u="none">
                    <a:solidFill>
                      <a:srgbClr val="C9A22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💡 คุณลักษณะเชิง PPL (Type-Safe Guarantees)</a:t>
                </a: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593296"/>
              <a:ext cx="7238518" cy="5710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2429"/>
                </a:lnSpc>
                <a:spcBef>
                  <a:spcPct val="0"/>
                </a:spcBef>
                <a:buAutoNum type="arabicPeriod" startAt="1"/>
              </a:pPr>
              <a:r>
                <a:rPr lang="en-US" b="true" sz="1799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Parametric Polymorphism &amp;</a:t>
              </a:r>
              <a:r>
                <a:rPr lang="en-US" b="true" sz="1799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Trait Bounds:</a:t>
              </a:r>
              <a:r>
                <a:rPr lang="en-US" sz="17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โครงสร้</a:t>
              </a:r>
              <a:r>
                <a:rPr lang="en-US" sz="17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างข้อมูล</a:t>
              </a:r>
              <a:r>
                <a:rPr lang="en-US" sz="17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เดียวรองรับทุก Type (&lt;K, V&gt;) โดยตีกรอบสัญญาความสามารถ K: PartialEq (เทียบ == หาของ), V: Clone (โคลนข้อมูลส่งกลับโดยไม่แย่ง Ownership จาก Cache)</a:t>
              </a:r>
            </a:p>
            <a:p>
              <a:pPr algn="l" marL="388618" indent="-194309" lvl="1">
                <a:lnSpc>
                  <a:spcPts val="2429"/>
                </a:lnSpc>
                <a:spcBef>
                  <a:spcPct val="0"/>
                </a:spcBef>
                <a:buAutoNum type="arabicPeriod" startAt="1"/>
              </a:pPr>
              <a:r>
                <a:rPr lang="en-US" b="true" sz="1799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Null Safety via Option&lt;V&gt;:</a:t>
              </a:r>
              <a:r>
                <a:rPr lang="en-US" sz="17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ใช้ Some(value) และ None แทนค่า null ทำให้ตัดปัญหา NullPointerException (The Billion-Dollar Mistake) ตั้งแต่ระดับ Type System</a:t>
              </a:r>
            </a:p>
            <a:p>
              <a:pPr algn="l" marL="388618" indent="-194309" lvl="1">
                <a:lnSpc>
                  <a:spcPts val="2429"/>
                </a:lnSpc>
                <a:spcBef>
                  <a:spcPct val="0"/>
                </a:spcBef>
                <a:buAutoNum type="arabicPeriod" startAt="1"/>
              </a:pPr>
              <a:r>
                <a:rPr lang="en-US" b="true" sz="1799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Encapsulation &amp; Information Hiding:</a:t>
              </a:r>
              <a:r>
                <a:rPr lang="en-US" sz="17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17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ซ่อนฟิลด์ entries และ capacity ให้เป็น Private (ไม่มี pub) เพื่อป้องกันไม่ให้โค้ดภายนอกแอบยัดข้อมูลโดยข้ามนโยบาย FIFO</a:t>
              </a:r>
            </a:p>
            <a:p>
              <a:pPr algn="l" marL="388618" indent="-194309" lvl="1">
                <a:lnSpc>
                  <a:spcPts val="2429"/>
                </a:lnSpc>
                <a:spcBef>
                  <a:spcPct val="0"/>
                </a:spcBef>
                <a:buAutoNum type="arabicPeriod" startAt="1"/>
              </a:pPr>
              <a:r>
                <a:rPr lang="en-US" b="true" sz="1799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Resource </a:t>
              </a:r>
              <a:r>
                <a:rPr lang="en-US" b="true" sz="1799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  <a:r>
                <a:rPr lang="en-US" b="true" sz="1799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  <a:r>
                <a:rPr lang="en-US" b="true" sz="1799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nag</a:t>
              </a:r>
              <a:r>
                <a:rPr lang="en-US" b="true" sz="1799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  <a:r>
                <a:rPr lang="en-US" b="true" sz="1799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</a:t>
              </a:r>
              <a:r>
                <a:rPr lang="en-US" b="true" sz="1799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t:</a:t>
              </a:r>
              <a:r>
                <a:rPr lang="en-US" b="true" sz="1799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17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มีการคุมขนาดหน่วยความจำคงที่ด้วย capacity และระบบ FIFO Eviction (remove(0)) ป้องกันปัญหา Memory Leak หรือ Out of Memory</a:t>
              </a:r>
            </a:p>
            <a:p>
              <a:pPr algn="l" marL="0" indent="0" lvl="0">
                <a:lnSpc>
                  <a:spcPts val="242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058359" y="2566503"/>
            <a:ext cx="5459086" cy="2992388"/>
          </a:xfrm>
          <a:custGeom>
            <a:avLst/>
            <a:gdLst/>
            <a:ahLst/>
            <a:cxnLst/>
            <a:rect r="r" b="b" t="t" l="l"/>
            <a:pathLst>
              <a:path h="2992388" w="5459086">
                <a:moveTo>
                  <a:pt x="0" y="0"/>
                </a:moveTo>
                <a:lnTo>
                  <a:pt x="5459085" y="0"/>
                </a:lnTo>
                <a:lnTo>
                  <a:pt x="5459085" y="2992387"/>
                </a:lnTo>
                <a:lnTo>
                  <a:pt x="0" y="2992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38" t="-116923" r="-2738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99273" y="5558890"/>
            <a:ext cx="5459086" cy="3266815"/>
          </a:xfrm>
          <a:custGeom>
            <a:avLst/>
            <a:gdLst/>
            <a:ahLst/>
            <a:cxnLst/>
            <a:rect r="r" b="b" t="t" l="l"/>
            <a:pathLst>
              <a:path h="3266815" w="5459086">
                <a:moveTo>
                  <a:pt x="0" y="0"/>
                </a:moveTo>
                <a:lnTo>
                  <a:pt x="5459086" y="0"/>
                </a:lnTo>
                <a:lnTo>
                  <a:pt x="5459086" y="3266815"/>
                </a:lnTo>
                <a:lnTo>
                  <a:pt x="0" y="32668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88382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058359" y="5558890"/>
            <a:ext cx="5459086" cy="3266815"/>
          </a:xfrm>
          <a:custGeom>
            <a:avLst/>
            <a:gdLst/>
            <a:ahLst/>
            <a:cxnLst/>
            <a:rect r="r" b="b" t="t" l="l"/>
            <a:pathLst>
              <a:path h="3266815" w="5459086">
                <a:moveTo>
                  <a:pt x="0" y="0"/>
                </a:moveTo>
                <a:lnTo>
                  <a:pt x="5459085" y="0"/>
                </a:lnTo>
                <a:lnTo>
                  <a:pt x="5459085" y="3266815"/>
                </a:lnTo>
                <a:lnTo>
                  <a:pt x="0" y="32668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97" t="0" r="-897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1419606"/>
            <a:ext cx="16911828" cy="1021496"/>
            <a:chOff x="0" y="0"/>
            <a:chExt cx="22549104" cy="13619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61994"/>
            </a:xfrm>
            <a:custGeom>
              <a:avLst/>
              <a:gdLst/>
              <a:ahLst/>
              <a:cxnLst/>
              <a:rect r="r" b="b" t="t" l="l"/>
              <a:pathLst>
                <a:path h="136199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61994"/>
                  </a:lnTo>
                  <a:lnTo>
                    <a:pt x="0" y="13619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597" r="0" b="-26958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549104" cy="1419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74"/>
                </a:lnSpc>
                <a:spcBef>
                  <a:spcPct val="0"/>
                </a:spcBef>
              </a:pPr>
              <a:r>
                <a:rPr lang="en-US" b="true" sz="2299" strike="noStrike" u="non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Exercise 2 — Polymorphic Notification Engine</a:t>
              </a:r>
            </a:p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การเปรียบเทียบสถาปัตยกรรมการส่งข้อมูลระหว่าง Static Dispatch ที่ทำงานรวดเร็วระดับ Zero-Cost สำหรับงานด่วนฉุกเฉิน กับ Dynamic Dispatch ที่ทำงานผ่านตัวชี้คู่ (Fat Pointer ขนาด 16 ไบต์) เพื่อจัดเก็บชนิดข้อมูลที่หลากหลายไว้ในคอลเลกชันเดียวกัน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35495" y="6082843"/>
            <a:ext cx="8557725" cy="3367683"/>
            <a:chOff x="0" y="0"/>
            <a:chExt cx="11410300" cy="44902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10299" cy="4490245"/>
            </a:xfrm>
            <a:custGeom>
              <a:avLst/>
              <a:gdLst/>
              <a:ahLst/>
              <a:cxnLst/>
              <a:rect r="r" b="b" t="t" l="l"/>
              <a:pathLst>
                <a:path h="4490245" w="11410299">
                  <a:moveTo>
                    <a:pt x="0" y="194173"/>
                  </a:moveTo>
                  <a:cubicBezTo>
                    <a:pt x="0" y="86973"/>
                    <a:pt x="103686" y="0"/>
                    <a:pt x="231485" y="0"/>
                  </a:cubicBezTo>
                  <a:lnTo>
                    <a:pt x="11178815" y="0"/>
                  </a:lnTo>
                  <a:cubicBezTo>
                    <a:pt x="11306613" y="0"/>
                    <a:pt x="11410299" y="86973"/>
                    <a:pt x="11410299" y="194173"/>
                  </a:cubicBezTo>
                  <a:lnTo>
                    <a:pt x="11410299" y="4296072"/>
                  </a:lnTo>
                  <a:cubicBezTo>
                    <a:pt x="11410299" y="4403272"/>
                    <a:pt x="11306613" y="4490245"/>
                    <a:pt x="11178815" y="4490245"/>
                  </a:cubicBezTo>
                  <a:lnTo>
                    <a:pt x="231485" y="4490245"/>
                  </a:lnTo>
                  <a:cubicBezTo>
                    <a:pt x="103686" y="4490245"/>
                    <a:pt x="0" y="4403271"/>
                    <a:pt x="0" y="4296072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36718" y="6275070"/>
            <a:ext cx="7955280" cy="2983230"/>
            <a:chOff x="0" y="0"/>
            <a:chExt cx="10607040" cy="397764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607040" cy="640080"/>
              <a:chOff x="0" y="0"/>
              <a:chExt cx="10607040" cy="6400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607040" cy="640080"/>
              </a:xfrm>
              <a:custGeom>
                <a:avLst/>
                <a:gdLst/>
                <a:ahLst/>
                <a:cxnLst/>
                <a:rect r="r" b="b" t="t" l="l"/>
                <a:pathLst>
                  <a:path h="640080" w="10607040">
                    <a:moveTo>
                      <a:pt x="0" y="0"/>
                    </a:moveTo>
                    <a:lnTo>
                      <a:pt x="10607040" y="0"/>
                    </a:lnTo>
                    <a:lnTo>
                      <a:pt x="1060704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2894" r="0" b="-272894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607040" cy="6781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2579"/>
                  </a:lnSpc>
                  <a:spcBef>
                    <a:spcPct val="0"/>
                  </a:spcBef>
                </a:pPr>
                <a:r>
                  <a:rPr lang="en-US" b="true" sz="2149" strike="noStrike" u="none">
                    <a:solidFill>
                      <a:srgbClr val="C9A22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💡 Fat Pointer Architecture &amp; Error Handling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705485"/>
              <a:ext cx="10607040" cy="3272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3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1.Static</a:t>
              </a:r>
              <a:r>
                <a:rPr lang="en-US" b="true" sz="1800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b="true" sz="1800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</a:t>
              </a:r>
              <a:r>
                <a:rPr lang="en-US" b="true" sz="1800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</a:t>
              </a:r>
              <a:r>
                <a:rPr lang="en-US" b="true" sz="1800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</a:t>
              </a:r>
              <a:r>
                <a:rPr lang="en-US" b="true" sz="1800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b="true" sz="1800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(Early B</a:t>
              </a:r>
              <a:r>
                <a:rPr lang="en-US" b="true" sz="1800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</a:t>
              </a:r>
              <a:r>
                <a:rPr lang="en-US" b="true" sz="1800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ding):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ใช้ &lt;N: No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ifi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&gt;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ทำให้เกิด Monomorphization สร้างฟังก์ชั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น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ตรงต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า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ม Type คอมไพเลอร์ Inlined โค้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ด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ได้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ไ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ม่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ต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้องพึ่งพาตารางฟังก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์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ชัน (Zero-Cost Abstraction) แต่ข้อจำกัดคือเก็บรวมหลาย Type ไม่ได้</a:t>
              </a:r>
            </a:p>
            <a:p>
              <a:pPr algn="l" marL="0" indent="0" lvl="0">
                <a:lnSpc>
                  <a:spcPts val="243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</a:t>
              </a:r>
              <a:r>
                <a:rPr lang="en-US" b="true" sz="1800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Dynamic Dispatch (Late Binding): 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ใช้ Box&lt;dyn Notifier&gt; ซึ่งทำงานผ่าน Fat Pointer ขนาด 16 ไบต์ (8 ไบต์ชี้ข้อมูลจริงบน Heap + 8 ไบต์ชี้ตาราง Vtable) ทำให้สร้าง Heterogeneous Collection (รวม Email, SMS, Discord ใน Vec เดียว) ได้อย่างยืดหยุ่น</a:t>
              </a:r>
            </a:p>
            <a:p>
              <a:pPr algn="l" marL="0" indent="0" lvl="0">
                <a:lnSpc>
                  <a:spcPts val="243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</a:t>
              </a:r>
              <a:r>
                <a:rPr lang="en-US" b="true" sz="1800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Type-Safe Error Handling:</a:t>
              </a:r>
              <a:r>
                <a:rPr lang="en-US" b="true" sz="1800" strike="noStrike" u="non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ทุก Channel คืนค่า Result&lt;(), String&gt; (มีแค่ Ok หรือ Err) บังคับจัดการความผิดพลาดตั้งแต่ตอนเขียน ป้องกันข้อผิดพลาดหลุดรอดไป Runtime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85800" y="2484808"/>
            <a:ext cx="7371043" cy="7182414"/>
          </a:xfrm>
          <a:custGeom>
            <a:avLst/>
            <a:gdLst/>
            <a:ahLst/>
            <a:cxnLst/>
            <a:rect r="r" b="b" t="t" l="l"/>
            <a:pathLst>
              <a:path h="7182414" w="7371043">
                <a:moveTo>
                  <a:pt x="0" y="0"/>
                </a:moveTo>
                <a:lnTo>
                  <a:pt x="7371043" y="0"/>
                </a:lnTo>
                <a:lnTo>
                  <a:pt x="7371043" y="7182414"/>
                </a:lnTo>
                <a:lnTo>
                  <a:pt x="0" y="7182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056843" y="2484808"/>
            <a:ext cx="8631898" cy="3095277"/>
          </a:xfrm>
          <a:custGeom>
            <a:avLst/>
            <a:gdLst/>
            <a:ahLst/>
            <a:cxnLst/>
            <a:rect r="r" b="b" t="t" l="l"/>
            <a:pathLst>
              <a:path h="3095277" w="8631898">
                <a:moveTo>
                  <a:pt x="0" y="0"/>
                </a:moveTo>
                <a:lnTo>
                  <a:pt x="8631898" y="0"/>
                </a:lnTo>
                <a:lnTo>
                  <a:pt x="8631898" y="3095276"/>
                </a:lnTo>
                <a:lnTo>
                  <a:pt x="0" y="30952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19606"/>
            <a:ext cx="16911828" cy="1021496"/>
            <a:chOff x="0" y="0"/>
            <a:chExt cx="22549104" cy="13619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61994"/>
            </a:xfrm>
            <a:custGeom>
              <a:avLst/>
              <a:gdLst/>
              <a:ahLst/>
              <a:cxnLst/>
              <a:rect r="r" b="b" t="t" l="l"/>
              <a:pathLst>
                <a:path h="136199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61994"/>
                  </a:lnTo>
                  <a:lnTo>
                    <a:pt x="0" y="13619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597" r="0" b="-26958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549104" cy="1419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74"/>
                </a:lnSpc>
                <a:spcBef>
                  <a:spcPct val="0"/>
                </a:spcBef>
              </a:pPr>
              <a:r>
                <a:rPr lang="en-US" b="true" sz="2299" strike="noStrike" u="non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 &amp; Architectural Trade-offs</a:t>
              </a:r>
            </a:p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การวิเคราะห์ข้อแลกเปลี่ยนในทางวิศวกรรมซอฟต์แวร์ ระหว่างประสิทธิภาพความเร็วสูงสุดที่แลกมาด้วยการขยายตัวของขนาดไฟล์ไบนารี (Code Bloat จาก Monomorphization) กับความยืดหยุ่นในการจัดการชนิดข้อมูลขณะโปรแกรมทำงาน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669702"/>
            <a:ext cx="16911828" cy="6644225"/>
            <a:chOff x="0" y="0"/>
            <a:chExt cx="22549104" cy="88589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49104" cy="8858966"/>
            </a:xfrm>
            <a:custGeom>
              <a:avLst/>
              <a:gdLst/>
              <a:ahLst/>
              <a:cxnLst/>
              <a:rect r="r" b="b" t="t" l="l"/>
              <a:pathLst>
                <a:path h="8858966" w="22549104">
                  <a:moveTo>
                    <a:pt x="0" y="329636"/>
                  </a:moveTo>
                  <a:cubicBezTo>
                    <a:pt x="0" y="147649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147649"/>
                    <a:pt x="22549104" y="329636"/>
                  </a:cubicBezTo>
                  <a:lnTo>
                    <a:pt x="22549104" y="8529331"/>
                  </a:lnTo>
                  <a:cubicBezTo>
                    <a:pt x="22549104" y="8711316"/>
                    <a:pt x="22483572" y="8858966"/>
                    <a:pt x="22402800" y="8858966"/>
                  </a:cubicBezTo>
                  <a:lnTo>
                    <a:pt x="146304" y="8858966"/>
                  </a:lnTo>
                  <a:cubicBezTo>
                    <a:pt x="65532" y="8858967"/>
                    <a:pt x="0" y="8711317"/>
                    <a:pt x="0" y="8529331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899063"/>
            <a:ext cx="16088868" cy="480060"/>
            <a:chOff x="0" y="0"/>
            <a:chExt cx="21451824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1451824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22960" y="2796990"/>
            <a:ext cx="16088868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1E1E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คำถาม : "หาก Static Dispatch เร็วสูงสุดระดับ Zero-Cost Abstraction และไร้ Runtime Overhead... ทำไม Rust ถึงไม่บังคับให้ใช้ Static Dispatch ในทุกสถานการณ์?"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2550" y="3981689"/>
            <a:ext cx="16745078" cy="5227320"/>
            <a:chOff x="0" y="0"/>
            <a:chExt cx="22326771" cy="696976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607040" cy="640080"/>
              <a:chOff x="0" y="0"/>
              <a:chExt cx="10607040" cy="6400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607040" cy="640080"/>
              </a:xfrm>
              <a:custGeom>
                <a:avLst/>
                <a:gdLst/>
                <a:ahLst/>
                <a:cxnLst/>
                <a:rect r="r" b="b" t="t" l="l"/>
                <a:pathLst>
                  <a:path h="640080" w="10607040">
                    <a:moveTo>
                      <a:pt x="0" y="0"/>
                    </a:moveTo>
                    <a:lnTo>
                      <a:pt x="10607040" y="0"/>
                    </a:lnTo>
                    <a:lnTo>
                      <a:pt x="1060704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2894" r="0" b="-272894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0607040" cy="6877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b="true" sz="2100" strike="noStrike" u="none">
                    <a:solidFill>
                      <a:srgbClr val="C9A22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📊 การวิเคราะห์ข้อแลกเปลี่ยน (Trade-offs Analysis)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789305"/>
              <a:ext cx="22326771" cy="6180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1.ปัญหา Code Bloat &amp; Memory Footprint:</a:t>
              </a:r>
            </a:p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การทำ Monomorphization จะก๊อบปี้โค้ด Machine Code แตกย่อยตามทุกชนิดข้อมูลจริง เช่น ถ้าฟังก์ชันหนึ่งถูกเรียกด้วย 20 Type คอมไพเลอร์จะสร้างฟังก์ชันซ้ำกัน 20 ชุดในไฟล์ Binary</a:t>
              </a:r>
            </a:p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ส่งผลให้ขนาดไฟล์ .exe บวมขึ้นอย่างมหาศาล และทำให้ CPU เกิด Instruction Cache Miss (I-Cache Thrashing) เพราะคำสั่งเครื่องกระจัดกระจาย</a:t>
              </a:r>
            </a:p>
            <a:p>
              <a:pPr algn="l">
                <a:lnSpc>
                  <a:spcPts val="2430"/>
                </a:lnSpc>
              </a:pPr>
              <a:r>
                <a:rPr lang="en-US" sz="18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</a:t>
              </a:r>
              <a:r>
                <a:rPr lang="en-US" sz="18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ข้อจำกัดด้าน Heterogeneous Collection &amp; Extensibility:</a:t>
              </a:r>
            </a:p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Static Dispatch ไม่สามารถเก็บ Object ต่างชนิดกันไว้ใน List หรือ Vector เดียวกันได้</a:t>
              </a:r>
            </a:p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ไม่รองรับงานประเภท Plugin Architecture, GUI Frameworks (เช่น ปุ่ม, ช่องกรอก, เช็คบ็อกซ์ ในหน้าจอเดียวกัน) หรือระบบ Event Broadcaster แบบใน Exercise 2</a:t>
              </a:r>
            </a:p>
            <a:p>
              <a:pPr algn="l">
                <a:lnSpc>
                  <a:spcPts val="2430"/>
                </a:lnSpc>
              </a:pP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🧭 </a:t>
              </a:r>
              <a:r>
                <a:rPr lang="en-US" sz="2100" b="tru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สรุปกฎการตัดสินใจเลือกใช้ในงานจริง (Rule of Thumb)</a:t>
              </a:r>
            </a:p>
            <a:p>
              <a:pPr algn="l" marL="388620" indent="-194310" lvl="1">
                <a:lnSpc>
                  <a:spcPts val="243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เลือกใช้ Static Dispatch เมื่อ:</a:t>
              </a:r>
            </a:p>
            <a:p>
              <a:pPr algn="l" marL="777240" indent="-259080" lvl="2">
                <a:lnSpc>
                  <a:spcPts val="2430"/>
                </a:lnSpc>
                <a:buFont typeface="Arial"/>
                <a:buChar char="⚬"/>
              </a:pPr>
              <a:r>
                <a:rPr lang="en-US" sz="18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งานที่เน้น Critical Performance และความเร็วสูงสุด (เช่น Game Loop, DSP, Math Compute)</a:t>
              </a:r>
            </a:p>
            <a:p>
              <a:pPr algn="l" marL="777240" indent="-259080" lvl="2">
                <a:lnSpc>
                  <a:spcPts val="2430"/>
                </a:lnSpc>
                <a:buFont typeface="Arial"/>
                <a:buChar char="⚬"/>
              </a:pPr>
              <a:r>
                <a:rPr lang="en-US" sz="18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ทราบชนิดข้อมูลที่แน่นอนล่วงหน้าตั้งแต่ตอนเขียนโค้ด</a:t>
              </a:r>
            </a:p>
            <a:p>
              <a:pPr algn="l" marL="388620" indent="-194310" lvl="1">
                <a:lnSpc>
                  <a:spcPts val="243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เลือกใช้ Dynamic Dispatch เมื่อ:</a:t>
              </a:r>
            </a:p>
            <a:p>
              <a:pPr algn="l" marL="777240" indent="-259080" lvl="2">
                <a:lnSpc>
                  <a:spcPts val="2430"/>
                </a:lnSpc>
                <a:buFont typeface="Arial"/>
                <a:buChar char="⚬"/>
              </a:pPr>
              <a:r>
                <a:rPr lang="en-US" sz="18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ต้องการรวม Object หลากหลายชนิดไว้ใน Collection เดียวกัน (Heterogeneous)</a:t>
              </a:r>
            </a:p>
            <a:p>
              <a:pPr algn="l" marL="777240" indent="-259080" lvl="2">
                <a:lnSpc>
                  <a:spcPts val="2430"/>
                </a:lnSpc>
                <a:buFont typeface="Arial"/>
                <a:buChar char="⚬"/>
              </a:pPr>
              <a:r>
                <a:rPr lang="en-US" sz="18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ต้องการความยืดหยุ่น เช่น ทำ Plugin System, ไดรเวอร์อุปกรณ์, หรือโค้ดที่ต้องเชื่อมต่อกับบุคคลภายนอก (Third-party extensions)</a:t>
              </a:r>
            </a:p>
            <a:p>
              <a:pPr algn="l" marL="0" indent="0" lvl="0">
                <a:lnSpc>
                  <a:spcPts val="243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2549104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Takeaways — สรุปสิ่งที่ควรจำ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7432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5800" y="2743200"/>
            <a:ext cx="685800" cy="685800"/>
            <a:chOff x="0" y="0"/>
            <a:chExt cx="9144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14500" y="2674620"/>
            <a:ext cx="15677388" cy="891540"/>
            <a:chOff x="0" y="0"/>
            <a:chExt cx="20903184" cy="118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03185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903185">
                  <a:moveTo>
                    <a:pt x="0" y="0"/>
                  </a:moveTo>
                  <a:lnTo>
                    <a:pt x="20903185" y="0"/>
                  </a:lnTo>
                  <a:lnTo>
                    <a:pt x="20903185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636" r="0" b="-2926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903184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Generics: </a:t>
              </a: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เขียน Logic เดียว รองรับหลาย Type พร้อม Type Safety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4251960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4251960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" y="3659456"/>
            <a:ext cx="15544800" cy="2007968"/>
            <a:chOff x="0" y="0"/>
            <a:chExt cx="20726400" cy="26772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26400" cy="2677290"/>
            </a:xfrm>
            <a:custGeom>
              <a:avLst/>
              <a:gdLst/>
              <a:ahLst/>
              <a:cxnLst/>
              <a:rect r="r" b="b" t="t" l="l"/>
              <a:pathLst>
                <a:path h="267729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677290"/>
                  </a:lnTo>
                  <a:lnTo>
                    <a:pt x="0" y="26772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931" r="-852" b="-7433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726400" cy="2715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Traits &amp; Trait Bounds: กำหนด Shared Behavior เป็นสัญญา (Contract) บังคับความสามารถของ Ty</a:t>
              </a: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 ป้องกันข้อผิดพลาดตั้งแต่ Compile Time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576072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" y="5760720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14500" y="5760720"/>
            <a:ext cx="15677388" cy="891540"/>
            <a:chOff x="0" y="0"/>
            <a:chExt cx="20903184" cy="1188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903185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903185">
                  <a:moveTo>
                    <a:pt x="0" y="0"/>
                  </a:moveTo>
                  <a:lnTo>
                    <a:pt x="20903185" y="0"/>
                  </a:lnTo>
                  <a:lnTo>
                    <a:pt x="20903185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636" r="0" b="-2926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903184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Monomo</a:t>
              </a: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rphization &amp; Polymorphism: คอมไพเลอร์สร้าง Machine Code แยกเฉพาะ Type จริงช่วง Compile Time ได้ประสิทธิภาพระดับ Zero-Cost ต่างจาก Java (Type Erasure) หรือ Python (Duck Typing)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5800" y="72694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5800" y="7269480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14500" y="7200900"/>
            <a:ext cx="15677388" cy="891540"/>
            <a:chOff x="0" y="0"/>
            <a:chExt cx="20903184" cy="1188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903185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903185">
                  <a:moveTo>
                    <a:pt x="0" y="0"/>
                  </a:moveTo>
                  <a:lnTo>
                    <a:pt x="20903185" y="0"/>
                  </a:lnTo>
                  <a:lnTo>
                    <a:pt x="20903185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636" r="0" b="-29263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090318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759"/>
                </a:lnSpc>
                <a:spcBef>
                  <a:spcPct val="0"/>
                </a:spcBef>
              </a:pP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PPL Trade-offs: </a:t>
              </a: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เลือ</a:t>
              </a: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กระหว่าง Static Dispatch (เร็ว</a:t>
              </a: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สูงสุด</a:t>
              </a: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Zero-Cost แ</a:t>
              </a: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ลก</a:t>
              </a: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</a:t>
              </a: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ับ</a:t>
              </a: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Code Bloat) กับ Dynamic Dispatch (ยืดหยุ่นผ่าน </a:t>
              </a: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Fat Pointer / </a:t>
              </a: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Vtable</a:t>
              </a: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แลกกับ Runtime Overhead</a:t>
              </a:r>
              <a:r>
                <a:rPr lang="en-US" sz="2299" strike="noStrike" u="none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2549104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 — เอกสารอ้างอิง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5800" y="2686050"/>
            <a:ext cx="16911828" cy="39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The Rust Programming Language (The Rust Book) — https://doc.rust-lang.org/book/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8086" y="3638412"/>
            <a:ext cx="16911828" cy="39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Rust by Example — https://doc.rust-lang.org/rust-by-example/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800" y="5067108"/>
            <a:ext cx="169118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Python official docs  — https://typing.python.org/en/latest/reference/generics.html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086" y="5543358"/>
            <a:ext cx="16911828" cy="39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cppreference — https://cppreference.com/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5800" y="7406640"/>
            <a:ext cx="16911828" cy="548640"/>
            <a:chOff x="0" y="0"/>
            <a:chExt cx="22549104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49104" cy="731520"/>
            </a:xfrm>
            <a:custGeom>
              <a:avLst/>
              <a:gdLst/>
              <a:ahLst/>
              <a:cxnLst/>
              <a:rect r="r" b="b" t="t" l="l"/>
              <a:pathLst>
                <a:path h="73152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626" r="0" b="-55062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25491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 u="sng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  <a:hlinkClick r:id="rId4" tooltip="https://github.com/670710626/rust-tutorial-2569"/>
                </a:rPr>
                <a:t>GitHub Repository: https://github.com/670710626/rust-tutorial-2569 (Pull Request: #43)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88086" y="6495750"/>
            <a:ext cx="16911828" cy="39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JetBrains : Rust vs Java — https://blog.jetbrains.com/rust/2025/08/01/rust-vs-java/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8086" y="6019554"/>
            <a:ext cx="16911828" cy="39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Oracle Java Tutorials — https://docs.oracle.com/javase/tutorial/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8086" y="3162162"/>
            <a:ext cx="169118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The Rust Reference — https://doc.rust-lang.org/reference/types/trait-object.html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8086" y="4114608"/>
            <a:ext cx="169118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Concepts of Programming Languages (12th Edition)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086" y="4590858"/>
            <a:ext cx="169118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Rust RFC 0255 — Object Safety — https://github.com/rust-lang/rfcs/blob/master/text/0255-object-safety.md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34290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8B2E2E">
                <a:alpha val="3019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82828" y="5486400"/>
            <a:ext cx="7543800" cy="7543800"/>
            <a:chOff x="0" y="0"/>
            <a:chExt cx="10058400" cy="1005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C9A227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3703320"/>
            <a:ext cx="16088868" cy="1371600"/>
            <a:chOff x="0" y="0"/>
            <a:chExt cx="21451824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182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559" r="0" b="-1785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21451824" cy="197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C9A22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Answers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074920"/>
            <a:ext cx="16088868" cy="822960"/>
            <a:chOff x="0" y="0"/>
            <a:chExt cx="21451824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182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932" r="0" b="-3309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451824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D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กลุ่ม 15  —  Generics &amp; Type System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DAHWsQhoDdE</dc:identifier>
  <dcterms:modified xsi:type="dcterms:W3CDTF">2011-08-01T06:04:30Z</dcterms:modified>
  <cp:revision>1</cp:revision>
  <dc:title>15-generics-type-system</dc:title>
</cp:coreProperties>
</file>